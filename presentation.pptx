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1A54"/>
    <a:srgbClr val="FF85BB"/>
    <a:srgbClr val="F5F5F5"/>
    <a:srgbClr val="FFCEE3"/>
    <a:srgbClr val="002A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25"/>
    <p:restoredTop sz="94610"/>
  </p:normalViewPr>
  <p:slideViewPr>
    <p:cSldViewPr snapToGrid="0" snapToObjects="1">
      <p:cViewPr varScale="1">
        <p:scale>
          <a:sx n="185" d="100"/>
          <a:sy n="185" d="100"/>
        </p:scale>
        <p:origin x="192"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c:style val="2"/>
  <c:chart>
    <c:title>
      <c:tx>
        <c:rich>
          <a:bodyPr/>
          <a:lstStyle/>
          <a:p>
            <a:pPr>
              <a:defRPr sz="1000" b="0" i="0" u="none" strike="noStrike">
                <a:solidFill>
                  <a:srgbClr val="021A54"/>
                </a:solidFill>
                <a:latin typeface="Arial"/>
              </a:defRPr>
            </a:pPr>
            <a:r>
              <a:rPr lang="en" sz="1000" b="0" i="0" u="none" strike="noStrike">
                <a:solidFill>
                  <a:srgbClr val="021A54"/>
                </a:solidFill>
                <a:latin typeface="Arial"/>
              </a:rPr>
              <a:t>mean_watch_time Spearman</a:t>
            </a:r>
          </a:p>
        </c:rich>
      </c:tx>
      <c:overlay val="0"/>
    </c:title>
    <c:autoTitleDeleted val="0"/>
    <c:plotArea>
      <c:layout/>
      <c:barChart>
        <c:barDir val="col"/>
        <c:grouping val="clustered"/>
        <c:varyColors val="0"/>
        <c:ser>
          <c:idx val="0"/>
          <c:order val="0"/>
          <c:tx>
            <c:strRef>
              <c:f>Sheet1!$B$1</c:f>
              <c:strCache>
                <c:ptCount val="1"/>
                <c:pt idx="0">
                  <c:v>Spearman</c:v>
                </c:pt>
              </c:strCache>
            </c:strRef>
          </c:tx>
          <c:spPr>
            <a:solidFill>
              <a:srgbClr val="FF85BB"/>
            </a:solidFill>
            <a:effectLst/>
          </c:spPr>
          <c:invertIfNegative val="0"/>
          <c:dPt>
            <c:idx val="0"/>
            <c:invertIfNegative val="0"/>
            <c:bubble3D val="0"/>
            <c:extLst>
              <c:ext xmlns:c16="http://schemas.microsoft.com/office/drawing/2014/chart" uri="{C3380CC4-5D6E-409C-BE32-E72D297353CC}">
                <c16:uniqueId val="{00000001-9982-414E-8248-9B7BDC173969}"/>
              </c:ext>
            </c:extLst>
          </c:dPt>
          <c:dPt>
            <c:idx val="1"/>
            <c:invertIfNegative val="0"/>
            <c:bubble3D val="0"/>
            <c:spPr>
              <a:solidFill>
                <a:srgbClr val="BBCCE0"/>
              </a:solidFill>
              <a:effectLst/>
            </c:spPr>
            <c:extLst>
              <c:ext xmlns:c16="http://schemas.microsoft.com/office/drawing/2014/chart" uri="{C3380CC4-5D6E-409C-BE32-E72D297353CC}">
                <c16:uniqueId val="{00000003-9982-414E-8248-9B7BDC173969}"/>
              </c:ext>
            </c:extLst>
          </c:dPt>
          <c:dLbls>
            <c:dLbl>
              <c:idx val="0"/>
              <c:tx>
                <c:rich>
                  <a:bodyPr/>
                  <a:lstStyle/>
                  <a:p>
                    <a:fld id="{1F01CD2F-85E7-0E48-BDEA-DDDA13D16975}" type="VALUE">
                      <a:rPr lang="en-US" altLang="zh-TW" smtClean="0">
                        <a:solidFill>
                          <a:srgbClr val="021A54"/>
                        </a:solidFill>
                      </a:rPr>
                      <a:pPr/>
                      <a:t>[值]</a:t>
                    </a:fld>
                    <a:r>
                      <a:rPr lang="en-US" altLang="zh-TW" dirty="0">
                        <a:solidFill>
                          <a:srgbClr val="021A54"/>
                        </a:solidFill>
                      </a:rPr>
                      <a:t>.256</a:t>
                    </a:r>
                  </a:p>
                </c:rich>
              </c:tx>
              <c:showLegendKey val="0"/>
              <c:showVal val="1"/>
              <c:showCatName val="0"/>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9982-414E-8248-9B7BDC173969}"/>
                </c:ext>
              </c:extLst>
            </c:dLbl>
            <c:dLbl>
              <c:idx val="1"/>
              <c:layout>
                <c:manualLayout>
                  <c:x val="-7.7630087853780438E-17"/>
                  <c:y val="-1.7361111111111112E-2"/>
                </c:manualLayout>
              </c:layout>
              <c:tx>
                <c:rich>
                  <a:bodyPr/>
                  <a:lstStyle/>
                  <a:p>
                    <a:fld id="{6737C504-6D4C-5942-BE7B-51A6CC9A0B30}" type="VALUE">
                      <a:rPr lang="en-US" altLang="zh-TW" smtClean="0"/>
                      <a:pPr/>
                      <a:t>[值]</a:t>
                    </a:fld>
                    <a:r>
                      <a:rPr lang="en-US" altLang="zh-TW" dirty="0"/>
                      <a:t>.047</a:t>
                    </a:r>
                  </a:p>
                </c:rich>
              </c:tx>
              <c:showLegendKey val="0"/>
              <c:showVal val="1"/>
              <c:showCatName val="0"/>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9982-414E-8248-9B7BDC173969}"/>
                </c:ext>
              </c:extLst>
            </c:dLbl>
            <c:numFmt formatCode="#,##0" sourceLinked="0"/>
            <c:spPr>
              <a:noFill/>
              <a:ln>
                <a:noFill/>
              </a:ln>
              <a:effectLst/>
            </c:spPr>
            <c:txPr>
              <a:bodyPr/>
              <a:lstStyle/>
              <a:p>
                <a:pPr>
                  <a:defRPr sz="1100" b="1" i="0" u="none" strike="noStrike">
                    <a:solidFill>
                      <a:srgbClr val="021A54"/>
                    </a:solidFill>
                    <a:latin typeface="jf-openhuninn-2.1" panose="020B0500000000000000" pitchFamily="34" charset="-120"/>
                    <a:ea typeface="jf-openhuninn-2.1" panose="020B0500000000000000"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HeteroGNN</c:v>
                </c:pt>
                <c:pt idx="1">
                  <c:v>LightGBM</c:v>
                </c:pt>
              </c:strCache>
            </c:strRef>
          </c:cat>
          <c:val>
            <c:numRef>
              <c:f>Sheet1!$B$2:$B$3</c:f>
              <c:numCache>
                <c:formatCode>General</c:formatCode>
                <c:ptCount val="2"/>
                <c:pt idx="0">
                  <c:v>0.25600000000000001</c:v>
                </c:pt>
                <c:pt idx="1">
                  <c:v>4.7E-2</c:v>
                </c:pt>
              </c:numCache>
            </c:numRef>
          </c:val>
          <c:extLst>
            <c:ext xmlns:c16="http://schemas.microsoft.com/office/drawing/2014/chart" uri="{C3380CC4-5D6E-409C-BE32-E72D297353CC}">
              <c16:uniqueId val="{00000004-9982-414E-8248-9B7BDC17396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F6082"/>
                </a:solidFill>
                <a:latin typeface="Arial"/>
              </a:defRPr>
            </a:pPr>
            <a:endParaRPr lang="zh-TW"/>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FFC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F6082"/>
                </a:solidFill>
                <a:latin typeface="Arial"/>
              </a:defRPr>
            </a:pPr>
            <a:endParaRPr lang="zh-TW"/>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815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file:///Users/luoyi/Desktop/shortvideo_mmgcn_poc/docs/hetero_gnn_demo.ht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file:///Users/luoyi/Desktop/shortvideo_mmgcn_poc/docs/hetero_gnn_demo.html"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arxiv.org/abs/1706.04222" TargetMode="External"/><Relationship Id="rId3" Type="http://schemas.openxmlformats.org/officeDocument/2006/relationships/hyperlink" Target="https://arxiv.org/abs/2002.02835" TargetMode="External"/><Relationship Id="rId7" Type="http://schemas.openxmlformats.org/officeDocument/2006/relationships/hyperlink" Target="https://ieeexplore.ieee.org/document/9428458" TargetMode="External"/><Relationship Id="rId2" Type="http://schemas.openxmlformats.org/officeDocument/2006/relationships/hyperlink" Target="https://arxiv.org/abs/1205.2618" TargetMode="External"/><Relationship Id="rId1" Type="http://schemas.openxmlformats.org/officeDocument/2006/relationships/slideLayout" Target="../slideLayouts/slideLayout1.xml"/><Relationship Id="rId6" Type="http://schemas.openxmlformats.org/officeDocument/2006/relationships/hyperlink" Target="https://ieeexplore.ieee.org/document/9102839" TargetMode="External"/><Relationship Id="rId5" Type="http://schemas.openxmlformats.org/officeDocument/2006/relationships/hyperlink" Target="https://arxiv.org/abs/2207.05969" TargetMode="External"/><Relationship Id="rId10" Type="http://schemas.openxmlformats.org/officeDocument/2006/relationships/hyperlink" Target="https://github.com/westlake-repl/NineRec" TargetMode="External"/><Relationship Id="rId4" Type="http://schemas.openxmlformats.org/officeDocument/2006/relationships/hyperlink" Target="https://dl.acm.org/doi/10.1145/3343031.3351034" TargetMode="External"/><Relationship Id="rId9" Type="http://schemas.openxmlformats.org/officeDocument/2006/relationships/hyperlink" Target="https://arxiv.org/abs/1706.022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54"/>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FF85BB">
              <a:alpha val="15000"/>
            </a:srgbClr>
          </a:solidFill>
          <a:ln w="12700">
            <a:solidFill>
              <a:srgbClr val="FF85BB">
                <a:alpha val="15000"/>
              </a:srgbClr>
            </a:solidFill>
            <a:prstDash val="solid"/>
          </a:ln>
        </p:spPr>
        <p:txBody>
          <a:bodyPr/>
          <a:lstStyle/>
          <a:p>
            <a:endParaRPr lang="zh-TW" altLang="en-US"/>
          </a:p>
        </p:txBody>
      </p:sp>
      <p:sp>
        <p:nvSpPr>
          <p:cNvPr id="3" name="Shape 1"/>
          <p:cNvSpPr/>
          <p:nvPr/>
        </p:nvSpPr>
        <p:spPr>
          <a:xfrm>
            <a:off x="-1645920" y="2743200"/>
            <a:ext cx="4114800" cy="4114800"/>
          </a:xfrm>
          <a:prstGeom prst="ellipse">
            <a:avLst/>
          </a:prstGeom>
          <a:solidFill>
            <a:srgbClr val="FFCEE3">
              <a:alpha val="12000"/>
            </a:srgbClr>
          </a:solidFill>
          <a:ln w="12700">
            <a:solidFill>
              <a:srgbClr val="FFCEE3">
                <a:alpha val="12000"/>
              </a:srgbClr>
            </a:solidFill>
            <a:prstDash val="solid"/>
          </a:ln>
        </p:spPr>
        <p:txBody>
          <a:bodyPr/>
          <a:lstStyle/>
          <a:p>
            <a:endParaRPr lang="zh-TW" altLang="en-US"/>
          </a:p>
        </p:txBody>
      </p:sp>
      <p:sp>
        <p:nvSpPr>
          <p:cNvPr id="4" name="Shape 2"/>
          <p:cNvSpPr/>
          <p:nvPr/>
        </p:nvSpPr>
        <p:spPr>
          <a:xfrm>
            <a:off x="548640" y="1143000"/>
            <a:ext cx="2286000" cy="320040"/>
          </a:xfrm>
          <a:prstGeom prst="roundRect">
            <a:avLst>
              <a:gd name="adj" fmla="val 22857"/>
            </a:avLst>
          </a:prstGeom>
          <a:solidFill>
            <a:srgbClr val="FF85BB"/>
          </a:solidFill>
          <a:ln w="12700">
            <a:solidFill>
              <a:srgbClr val="FF85BB"/>
            </a:solidFill>
            <a:prstDash val="solid"/>
          </a:ln>
        </p:spPr>
        <p:txBody>
          <a:bodyPr/>
          <a:lstStyle/>
          <a:p>
            <a:endParaRPr lang="zh-TW" altLang="en-US"/>
          </a:p>
        </p:txBody>
      </p:sp>
      <p:sp>
        <p:nvSpPr>
          <p:cNvPr id="5" name="Text 3"/>
          <p:cNvSpPr/>
          <p:nvPr/>
        </p:nvSpPr>
        <p:spPr>
          <a:xfrm>
            <a:off x="548640" y="1143000"/>
            <a:ext cx="2286000" cy="320040"/>
          </a:xfrm>
          <a:prstGeom prst="rect">
            <a:avLst/>
          </a:prstGeom>
          <a:noFill/>
          <a:ln/>
        </p:spPr>
        <p:txBody>
          <a:bodyPr wrap="square" lIns="0" tIns="0" rIns="0" bIns="0" rtlCol="0" anchor="ctr"/>
          <a:lstStyle/>
          <a:p>
            <a:pPr marL="0" indent="0" algn="ctr">
              <a:buNone/>
            </a:pPr>
            <a:r>
              <a:rPr lang="en-US" sz="1050" dirty="0">
                <a:solidFill>
                  <a:srgbClr val="FFFFFF"/>
                </a:solidFill>
                <a:latin typeface="jf open 粉圓 2.1" pitchFamily="34" charset="0"/>
                <a:ea typeface="jf open 粉圓 2.1" pitchFamily="34" charset="-122"/>
                <a:cs typeface="jf open 粉圓 2.1" pitchFamily="34" charset="-120"/>
              </a:rPr>
              <a:t>GNN 期末專案　·　財金所</a:t>
            </a:r>
            <a:endParaRPr lang="en-US" sz="1050" dirty="0"/>
          </a:p>
        </p:txBody>
      </p:sp>
      <p:sp>
        <p:nvSpPr>
          <p:cNvPr id="6" name="Text 4"/>
          <p:cNvSpPr/>
          <p:nvPr/>
        </p:nvSpPr>
        <p:spPr>
          <a:xfrm>
            <a:off x="548640" y="1536192"/>
            <a:ext cx="5486400" cy="2194560"/>
          </a:xfrm>
          <a:prstGeom prst="rect">
            <a:avLst/>
          </a:prstGeom>
          <a:noFill/>
          <a:ln/>
        </p:spPr>
        <p:txBody>
          <a:bodyPr wrap="square" rtlCol="0" anchor="ctr"/>
          <a:lstStyle/>
          <a:p>
            <a:pPr marL="0" indent="0">
              <a:buNone/>
            </a:pPr>
            <a:r>
              <a:rPr lang="en-US" sz="4000" b="1" dirty="0">
                <a:solidFill>
                  <a:srgbClr val="FFFFFF"/>
                </a:solidFill>
                <a:latin typeface="jf open 粉圓 2.1" pitchFamily="34" charset="0"/>
                <a:ea typeface="jf open 粉圓 2.1" pitchFamily="34" charset="-122"/>
                <a:cs typeface="jf open 粉圓 2.1" pitchFamily="34" charset="-120"/>
              </a:rPr>
              <a:t>以圖神經網路</a:t>
            </a:r>
            <a:endParaRPr lang="en-US" sz="4000" dirty="0"/>
          </a:p>
          <a:p>
            <a:pPr marL="0" indent="0">
              <a:buNone/>
            </a:pPr>
            <a:r>
              <a:rPr lang="en-US" sz="4000" b="1" dirty="0">
                <a:solidFill>
                  <a:srgbClr val="FFFFFF"/>
                </a:solidFill>
                <a:latin typeface="jf open 粉圓 2.1" pitchFamily="34" charset="0"/>
                <a:ea typeface="jf open 粉圓 2.1" pitchFamily="34" charset="-122"/>
                <a:cs typeface="jf open 粉圓 2.1" pitchFamily="34" charset="-120"/>
              </a:rPr>
              <a:t>預測短影音平台表現</a:t>
            </a:r>
            <a:endParaRPr lang="en-US" sz="4000" dirty="0"/>
          </a:p>
        </p:txBody>
      </p:sp>
      <p:sp>
        <p:nvSpPr>
          <p:cNvPr id="7" name="Text 5"/>
          <p:cNvSpPr/>
          <p:nvPr/>
        </p:nvSpPr>
        <p:spPr>
          <a:xfrm>
            <a:off x="548640" y="3730752"/>
            <a:ext cx="5486400" cy="347472"/>
          </a:xfrm>
          <a:prstGeom prst="rect">
            <a:avLst/>
          </a:prstGeom>
          <a:noFill/>
          <a:ln/>
        </p:spPr>
        <p:txBody>
          <a:bodyPr wrap="square" rtlCol="0" anchor="ctr"/>
          <a:lstStyle/>
          <a:p>
            <a:pPr marL="0" indent="0">
              <a:buNone/>
            </a:pPr>
            <a:r>
              <a:rPr lang="en-US" sz="1100" dirty="0">
                <a:solidFill>
                  <a:srgbClr val="FFCEE3"/>
                </a:solidFill>
                <a:latin typeface="jf open 粉圓 2.1" pitchFamily="34" charset="0"/>
                <a:ea typeface="jf open 粉圓 2.1" pitchFamily="34" charset="-122"/>
                <a:cs typeface="jf open 粉圓 2.1" pitchFamily="34" charset="-120"/>
              </a:rPr>
              <a:t>羅頤　·　ShortVideo (WWW 2025)　·　HeteroGNN + GraphSAGE</a:t>
            </a:r>
            <a:endParaRPr lang="en-US" sz="1100" dirty="0"/>
          </a:p>
        </p:txBody>
      </p:sp>
      <p:sp>
        <p:nvSpPr>
          <p:cNvPr id="8" name="Shape 6"/>
          <p:cNvSpPr/>
          <p:nvPr/>
        </p:nvSpPr>
        <p:spPr>
          <a:xfrm>
            <a:off x="6583680" y="1115568"/>
            <a:ext cx="2240280" cy="2493906"/>
          </a:xfrm>
          <a:prstGeom prst="roundRect">
            <a:avLst>
              <a:gd name="adj" fmla="val 4082"/>
            </a:avLst>
          </a:prstGeom>
          <a:solidFill>
            <a:srgbClr val="041E66"/>
          </a:solidFill>
          <a:ln w="25400">
            <a:solidFill>
              <a:srgbClr val="FF85BB"/>
            </a:solidFill>
            <a:prstDash val="solid"/>
          </a:ln>
        </p:spPr>
        <p:txBody>
          <a:bodyPr/>
          <a:lstStyle/>
          <a:p>
            <a:endParaRPr lang="zh-TW" altLang="en-US"/>
          </a:p>
        </p:txBody>
      </p:sp>
      <p:sp>
        <p:nvSpPr>
          <p:cNvPr id="9" name="Text 7"/>
          <p:cNvSpPr/>
          <p:nvPr/>
        </p:nvSpPr>
        <p:spPr>
          <a:xfrm>
            <a:off x="6583680" y="1188720"/>
            <a:ext cx="2240280" cy="292608"/>
          </a:xfrm>
          <a:prstGeom prst="rect">
            <a:avLst/>
          </a:prstGeom>
          <a:noFill/>
          <a:ln/>
        </p:spPr>
        <p:txBody>
          <a:bodyPr wrap="square" rtlCol="0" anchor="ctr"/>
          <a:lstStyle/>
          <a:p>
            <a:pPr marL="0" indent="0" algn="ctr">
              <a:buNone/>
            </a:pPr>
            <a:r>
              <a:rPr lang="en-US" sz="1050" dirty="0">
                <a:solidFill>
                  <a:srgbClr val="FF85BB"/>
                </a:solidFill>
                <a:latin typeface="jf open 粉圓 2.1" pitchFamily="34" charset="0"/>
                <a:ea typeface="jf open 粉圓 2.1" pitchFamily="34" charset="-122"/>
                <a:cs typeface="jf open 粉圓 2.1" pitchFamily="34" charset="-120"/>
              </a:rPr>
              <a:t>核心成果</a:t>
            </a:r>
            <a:endParaRPr lang="en-US" sz="1050" dirty="0"/>
          </a:p>
        </p:txBody>
      </p:sp>
      <p:sp>
        <p:nvSpPr>
          <p:cNvPr id="10" name="Text 8"/>
          <p:cNvSpPr/>
          <p:nvPr/>
        </p:nvSpPr>
        <p:spPr>
          <a:xfrm>
            <a:off x="6583680" y="1463040"/>
            <a:ext cx="2240280" cy="914400"/>
          </a:xfrm>
          <a:prstGeom prst="rect">
            <a:avLst/>
          </a:prstGeom>
          <a:noFill/>
          <a:ln/>
        </p:spPr>
        <p:txBody>
          <a:bodyPr wrap="square" rtlCol="0" anchor="ctr"/>
          <a:lstStyle/>
          <a:p>
            <a:pPr marL="0" indent="0" algn="ctr">
              <a:buNone/>
            </a:pPr>
            <a:r>
              <a:rPr lang="en-US" sz="5800" b="1" dirty="0">
                <a:solidFill>
                  <a:srgbClr val="FFFFFF"/>
                </a:solidFill>
                <a:latin typeface="jf open 粉圓 2.1" pitchFamily="34" charset="0"/>
                <a:ea typeface="jf open 粉圓 2.1" pitchFamily="34" charset="-122"/>
                <a:cs typeface="jf open 粉圓 2.1" pitchFamily="34" charset="-120"/>
              </a:rPr>
              <a:t>×5.5</a:t>
            </a:r>
            <a:endParaRPr lang="en-US" sz="5800" dirty="0"/>
          </a:p>
        </p:txBody>
      </p:sp>
      <p:sp>
        <p:nvSpPr>
          <p:cNvPr id="11" name="Text 9"/>
          <p:cNvSpPr/>
          <p:nvPr/>
        </p:nvSpPr>
        <p:spPr>
          <a:xfrm>
            <a:off x="6583680" y="2395728"/>
            <a:ext cx="2240280" cy="457200"/>
          </a:xfrm>
          <a:prstGeom prst="rect">
            <a:avLst/>
          </a:prstGeom>
          <a:noFill/>
          <a:ln/>
        </p:spPr>
        <p:txBody>
          <a:bodyPr wrap="square" rtlCol="0" anchor="ctr"/>
          <a:lstStyle/>
          <a:p>
            <a:pPr marL="0" indent="0" algn="ctr">
              <a:buNone/>
            </a:pPr>
            <a:r>
              <a:rPr lang="en-US" sz="950" dirty="0">
                <a:solidFill>
                  <a:srgbClr val="FFCEE3"/>
                </a:solidFill>
                <a:latin typeface="jf open 粉圓 2.1" pitchFamily="34" charset="0"/>
                <a:ea typeface="jf open 粉圓 2.1" pitchFamily="34" charset="-122"/>
                <a:cs typeface="jf open 粉圓 2.1" pitchFamily="34" charset="-120"/>
              </a:rPr>
              <a:t>排名能力提升倍數</a:t>
            </a:r>
            <a:endParaRPr lang="en-US" sz="950" dirty="0"/>
          </a:p>
          <a:p>
            <a:pPr marL="0" indent="0" algn="ctr">
              <a:buNone/>
            </a:pPr>
            <a:r>
              <a:rPr lang="en-US" sz="950" dirty="0">
                <a:solidFill>
                  <a:srgbClr val="FFCEE3"/>
                </a:solidFill>
                <a:latin typeface="jf open 粉圓 2.1" pitchFamily="34" charset="0"/>
                <a:ea typeface="jf open 粉圓 2.1" pitchFamily="34" charset="-122"/>
                <a:cs typeface="jf open 粉圓 2.1" pitchFamily="34" charset="-120"/>
              </a:rPr>
              <a:t>(mean_watch_time)</a:t>
            </a:r>
            <a:endParaRPr lang="en-US" sz="950" dirty="0"/>
          </a:p>
        </p:txBody>
      </p:sp>
      <p:sp>
        <p:nvSpPr>
          <p:cNvPr id="12" name="Shape 10"/>
          <p:cNvSpPr/>
          <p:nvPr/>
        </p:nvSpPr>
        <p:spPr>
          <a:xfrm>
            <a:off x="6812280" y="2907792"/>
            <a:ext cx="1828800" cy="0"/>
          </a:xfrm>
          <a:prstGeom prst="line">
            <a:avLst/>
          </a:prstGeom>
          <a:noFill/>
          <a:ln w="10160">
            <a:solidFill>
              <a:srgbClr val="FF85BB"/>
            </a:solidFill>
            <a:prstDash val="solid"/>
          </a:ln>
        </p:spPr>
        <p:txBody>
          <a:bodyPr/>
          <a:lstStyle/>
          <a:p>
            <a:endParaRPr lang="zh-TW" altLang="en-US"/>
          </a:p>
        </p:txBody>
      </p:sp>
      <p:sp>
        <p:nvSpPr>
          <p:cNvPr id="13" name="Text 11"/>
          <p:cNvSpPr/>
          <p:nvPr/>
        </p:nvSpPr>
        <p:spPr>
          <a:xfrm>
            <a:off x="6583680" y="2962656"/>
            <a:ext cx="2240280" cy="502920"/>
          </a:xfrm>
          <a:prstGeom prst="rect">
            <a:avLst/>
          </a:prstGeom>
          <a:noFill/>
          <a:ln/>
        </p:spPr>
        <p:txBody>
          <a:bodyPr wrap="square" rtlCol="0" anchor="ctr"/>
          <a:lstStyle/>
          <a:p>
            <a:pPr marL="0" indent="0" algn="ctr">
              <a:buNone/>
            </a:pPr>
            <a:r>
              <a:rPr lang="en-US" sz="900" dirty="0">
                <a:solidFill>
                  <a:srgbClr val="FFCEE3"/>
                </a:solidFill>
                <a:latin typeface="jf open 粉圓 2.1" pitchFamily="34" charset="0"/>
                <a:ea typeface="jf open 粉圓 2.1" pitchFamily="34" charset="-122"/>
                <a:cs typeface="jf open 粉圓 2.1" pitchFamily="34" charset="-120"/>
              </a:rPr>
              <a:t>Spearman 0.256 vs 0.047</a:t>
            </a:r>
            <a:endParaRPr lang="en-US" sz="900" dirty="0"/>
          </a:p>
          <a:p>
            <a:pPr marL="0" indent="0" algn="ctr">
              <a:buNone/>
            </a:pPr>
            <a:r>
              <a:rPr lang="en-US" sz="900" dirty="0">
                <a:solidFill>
                  <a:srgbClr val="FFCEE3"/>
                </a:solidFill>
                <a:latin typeface="jf open 粉圓 2.1" pitchFamily="34" charset="0"/>
                <a:ea typeface="jf open 粉圓 2.1" pitchFamily="34" charset="-122"/>
                <a:cs typeface="jf open 粉圓 2.1" pitchFamily="34" charset="-120"/>
              </a:rPr>
              <a:t>(HeteroGNN vs LightGBM)</a:t>
            </a:r>
            <a:endParaRPr lang="en-US" sz="900" dirty="0"/>
          </a:p>
        </p:txBody>
      </p:sp>
      <p:sp>
        <p:nvSpPr>
          <p:cNvPr id="14" name="Shape 12"/>
          <p:cNvSpPr/>
          <p:nvPr/>
        </p:nvSpPr>
        <p:spPr>
          <a:xfrm>
            <a:off x="548640" y="4297680"/>
            <a:ext cx="8046720" cy="0"/>
          </a:xfrm>
          <a:prstGeom prst="line">
            <a:avLst/>
          </a:prstGeom>
          <a:noFill/>
          <a:ln w="12700">
            <a:solidFill>
              <a:srgbClr val="0D2E6E"/>
            </a:solidFill>
            <a:prstDash val="solid"/>
          </a:ln>
        </p:spPr>
        <p:txBody>
          <a:bodyPr/>
          <a:lstStyle/>
          <a:p>
            <a:endParaRPr lang="zh-TW" altLang="en-US"/>
          </a:p>
        </p:txBody>
      </p:sp>
      <p:sp>
        <p:nvSpPr>
          <p:cNvPr id="15" name="Text 13"/>
          <p:cNvSpPr/>
          <p:nvPr/>
        </p:nvSpPr>
        <p:spPr>
          <a:xfrm>
            <a:off x="548640" y="4389120"/>
            <a:ext cx="8046720" cy="292608"/>
          </a:xfrm>
          <a:prstGeom prst="rect">
            <a:avLst/>
          </a:prstGeom>
          <a:noFill/>
          <a:ln/>
        </p:spPr>
        <p:txBody>
          <a:bodyPr wrap="square" rtlCol="0" anchor="ctr"/>
          <a:lstStyle/>
          <a:p>
            <a:pPr marL="0" indent="0" algn="ctr">
              <a:buNone/>
            </a:pPr>
            <a:r>
              <a:rPr lang="en-US" sz="950" dirty="0">
                <a:solidFill>
                  <a:srgbClr val="F5F5F5"/>
                </a:solidFill>
                <a:latin typeface="jf open 粉圓 2.1" pitchFamily="34" charset="0"/>
                <a:ea typeface="jf open 粉圓 2.1" pitchFamily="34" charset="-122"/>
                <a:cs typeface="jf open 粉圓 2.1" pitchFamily="34" charset="-120"/>
              </a:rPr>
              <a:t>https://</a:t>
            </a:r>
            <a:r>
              <a:rPr lang="en-US" sz="950" dirty="0" err="1">
                <a:solidFill>
                  <a:srgbClr val="F5F5F5"/>
                </a:solidFill>
                <a:latin typeface="jf open 粉圓 2.1" pitchFamily="34" charset="0"/>
                <a:ea typeface="jf open 粉圓 2.1" pitchFamily="34" charset="-122"/>
                <a:cs typeface="jf open 粉圓 2.1" pitchFamily="34" charset="-120"/>
              </a:rPr>
              <a:t>github.com</a:t>
            </a:r>
            <a:r>
              <a:rPr lang="en-US" sz="950" dirty="0">
                <a:solidFill>
                  <a:srgbClr val="F5F5F5"/>
                </a:solidFill>
                <a:latin typeface="jf open 粉圓 2.1" pitchFamily="34" charset="0"/>
                <a:ea typeface="jf open 粉圓 2.1" pitchFamily="34" charset="-122"/>
                <a:cs typeface="jf open 粉圓 2.1" pitchFamily="34" charset="-120"/>
              </a:rPr>
              <a:t>/roy891030</a:t>
            </a:r>
            <a:endParaRPr lang="en-US" sz="950" dirty="0">
              <a:solidFill>
                <a:srgbClr val="F5F5F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研究背景與動機</a:t>
            </a:r>
            <a:endParaRPr lang="en-US" sz="2100" dirty="0"/>
          </a:p>
        </p:txBody>
      </p:sp>
      <p:sp>
        <p:nvSpPr>
          <p:cNvPr id="4" name="Shape 2"/>
          <p:cNvSpPr/>
          <p:nvPr/>
        </p:nvSpPr>
        <p:spPr>
          <a:xfrm>
            <a:off x="365760" y="804672"/>
            <a:ext cx="4892040" cy="1874520"/>
          </a:xfrm>
          <a:prstGeom prst="roundRect">
            <a:avLst>
              <a:gd name="adj" fmla="val 487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365760" y="896112"/>
            <a:ext cx="64008" cy="1783080"/>
          </a:xfrm>
          <a:prstGeom prst="rect">
            <a:avLst/>
          </a:prstGeom>
          <a:solidFill>
            <a:srgbClr val="FF85BB"/>
          </a:solidFill>
          <a:ln w="12700">
            <a:solidFill>
              <a:srgbClr val="FF85BB"/>
            </a:solidFill>
            <a:prstDash val="solid"/>
          </a:ln>
        </p:spPr>
        <p:txBody>
          <a:bodyPr/>
          <a:lstStyle/>
          <a:p>
            <a:endParaRPr lang="zh-TW" altLang="en-US"/>
          </a:p>
        </p:txBody>
      </p:sp>
      <p:sp>
        <p:nvSpPr>
          <p:cNvPr id="6" name="Text 4"/>
          <p:cNvSpPr/>
          <p:nvPr/>
        </p:nvSpPr>
        <p:spPr>
          <a:xfrm>
            <a:off x="566928" y="886968"/>
            <a:ext cx="4617720" cy="1719072"/>
          </a:xfrm>
          <a:prstGeom prst="rect">
            <a:avLst/>
          </a:prstGeom>
          <a:noFill/>
          <a:ln/>
        </p:spPr>
        <p:txBody>
          <a:bodyPr wrap="square" rtlCol="0" anchor="t"/>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短影音平台每日新增數十萬支影片</a:t>
            </a:r>
            <a:endParaRPr lang="en-US" sz="1300" dirty="0"/>
          </a:p>
          <a:p>
            <a:pPr marL="0" indent="0">
              <a:buNone/>
            </a:pP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平台需要在影片剛上傳、</a:t>
            </a:r>
            <a:endParaRPr lang="en-US" sz="1300" dirty="0"/>
          </a:p>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無歷史資料</a:t>
            </a:r>
            <a:r>
              <a:rPr lang="en-US" sz="1300" dirty="0">
                <a:solidFill>
                  <a:srgbClr val="021A54"/>
                </a:solidFill>
                <a:latin typeface="jf open 粉圓 2.1" pitchFamily="34" charset="0"/>
                <a:ea typeface="jf open 粉圓 2.1" pitchFamily="34" charset="-122"/>
                <a:cs typeface="jf open 粉圓 2.1" pitchFamily="34" charset="-120"/>
              </a:rPr>
              <a:t>條件下即時估計潛在表現，</a:t>
            </a: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以決定初始流量分配策略。</a:t>
            </a:r>
            <a:endParaRPr lang="en-US" sz="1300" dirty="0"/>
          </a:p>
          <a:p>
            <a:pPr marL="0" indent="0">
              <a:buNone/>
            </a:pP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這是流量調度、創作者獎勵與</a:t>
            </a:r>
            <a:endParaRPr lang="en-US" sz="1300" dirty="0"/>
          </a:p>
          <a:p>
            <a:pPr marL="0" indent="0">
              <a:buNone/>
            </a:pPr>
            <a:r>
              <a:rPr lang="en-US" sz="1300" dirty="0">
                <a:solidFill>
                  <a:srgbClr val="021A54"/>
                </a:solidFill>
                <a:latin typeface="jf open 粉圓 2.1" pitchFamily="34" charset="0"/>
                <a:ea typeface="jf open 粉圓 2.1" pitchFamily="34" charset="-122"/>
                <a:cs typeface="jf open 粉圓 2.1" pitchFamily="34" charset="-120"/>
              </a:rPr>
              <a:t>內容生態健康的核心問題。</a:t>
            </a:r>
            <a:endParaRPr lang="en-US" sz="1300" dirty="0"/>
          </a:p>
        </p:txBody>
      </p:sp>
      <p:sp>
        <p:nvSpPr>
          <p:cNvPr id="7" name="Shape 5"/>
          <p:cNvSpPr/>
          <p:nvPr/>
        </p:nvSpPr>
        <p:spPr>
          <a:xfrm>
            <a:off x="365760" y="2816352"/>
            <a:ext cx="233172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8" name="Text 6"/>
          <p:cNvSpPr/>
          <p:nvPr/>
        </p:nvSpPr>
        <p:spPr>
          <a:xfrm>
            <a:off x="365760" y="281635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10,000</a:t>
            </a:r>
            <a:r>
              <a:rPr lang="en-US" sz="1100" dirty="0">
                <a:solidFill>
                  <a:srgbClr val="4F6082"/>
                </a:solidFill>
                <a:latin typeface="jf open 粉圓 2.1" pitchFamily="34" charset="0"/>
                <a:ea typeface="jf open 粉圓 2.1" pitchFamily="34" charset="-122"/>
                <a:cs typeface="jf open 粉圓 2.1" pitchFamily="34" charset="-120"/>
              </a:rPr>
              <a:t>  匿名使用者</a:t>
            </a:r>
            <a:endParaRPr lang="en-US" sz="2200" dirty="0"/>
          </a:p>
        </p:txBody>
      </p:sp>
      <p:sp>
        <p:nvSpPr>
          <p:cNvPr id="9" name="Shape 7"/>
          <p:cNvSpPr/>
          <p:nvPr/>
        </p:nvSpPr>
        <p:spPr>
          <a:xfrm>
            <a:off x="2852928" y="2816352"/>
            <a:ext cx="2331720" cy="731520"/>
          </a:xfrm>
          <a:prstGeom prst="roundRect">
            <a:avLst>
              <a:gd name="adj" fmla="val 12500"/>
            </a:avLst>
          </a:prstGeom>
          <a:solidFill>
            <a:srgbClr val="FFFFFF"/>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0" name="Text 8"/>
          <p:cNvSpPr/>
          <p:nvPr/>
        </p:nvSpPr>
        <p:spPr>
          <a:xfrm>
            <a:off x="2852928" y="281635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153,561</a:t>
            </a:r>
            <a:r>
              <a:rPr lang="en-US" sz="1100" dirty="0">
                <a:solidFill>
                  <a:srgbClr val="4F6082"/>
                </a:solidFill>
                <a:latin typeface="jf open 粉圓 2.1" pitchFamily="34" charset="0"/>
                <a:ea typeface="jf open 粉圓 2.1" pitchFamily="34" charset="-122"/>
                <a:cs typeface="jf open 粉圓 2.1" pitchFamily="34" charset="-120"/>
              </a:rPr>
              <a:t>  部影片</a:t>
            </a:r>
            <a:endParaRPr lang="en-US" sz="2200" dirty="0"/>
          </a:p>
        </p:txBody>
      </p:sp>
      <p:sp>
        <p:nvSpPr>
          <p:cNvPr id="11" name="Shape 9"/>
          <p:cNvSpPr/>
          <p:nvPr/>
        </p:nvSpPr>
        <p:spPr>
          <a:xfrm>
            <a:off x="365760" y="3639312"/>
            <a:ext cx="233172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2" name="Text 10"/>
          <p:cNvSpPr/>
          <p:nvPr/>
        </p:nvSpPr>
        <p:spPr>
          <a:xfrm>
            <a:off x="365760" y="3639312"/>
            <a:ext cx="2331720" cy="731520"/>
          </a:xfrm>
          <a:prstGeom prst="rect">
            <a:avLst/>
          </a:prstGeom>
          <a:noFill/>
          <a:ln/>
        </p:spPr>
        <p:txBody>
          <a:bodyPr wrap="square" rtlCol="0" anchor="ctr"/>
          <a:lstStyle/>
          <a:p>
            <a:pPr marL="0" indent="0" algn="ctr">
              <a:buNone/>
            </a:pPr>
            <a:r>
              <a:rPr lang="en-US" sz="2000" b="1" dirty="0">
                <a:solidFill>
                  <a:srgbClr val="021A54"/>
                </a:solidFill>
                <a:latin typeface="jf open 粉圓 2.1" pitchFamily="34" charset="0"/>
                <a:ea typeface="jf open 粉圓 2.1" pitchFamily="34" charset="-122"/>
                <a:cs typeface="jf open 粉圓 2.1" pitchFamily="34" charset="-120"/>
              </a:rPr>
              <a:t>6,767,010</a:t>
            </a:r>
            <a:r>
              <a:rPr lang="en-US" sz="1100" dirty="0">
                <a:solidFill>
                  <a:srgbClr val="4F6082"/>
                </a:solidFill>
                <a:latin typeface="jf open 粉圓 2.1" pitchFamily="34" charset="0"/>
                <a:ea typeface="jf open 粉圓 2.1" pitchFamily="34" charset="-122"/>
                <a:cs typeface="jf open 粉圓 2.1" pitchFamily="34" charset="-120"/>
              </a:rPr>
              <a:t>  條互動記錄</a:t>
            </a:r>
            <a:endParaRPr lang="en-US" sz="2200" dirty="0"/>
          </a:p>
        </p:txBody>
      </p:sp>
      <p:sp>
        <p:nvSpPr>
          <p:cNvPr id="13" name="Shape 11"/>
          <p:cNvSpPr/>
          <p:nvPr/>
        </p:nvSpPr>
        <p:spPr>
          <a:xfrm>
            <a:off x="2852928" y="3639312"/>
            <a:ext cx="2331720" cy="731520"/>
          </a:xfrm>
          <a:prstGeom prst="roundRect">
            <a:avLst>
              <a:gd name="adj" fmla="val 12500"/>
            </a:avLst>
          </a:prstGeom>
          <a:solidFill>
            <a:srgbClr val="FFFFFF"/>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4" name="Text 12"/>
          <p:cNvSpPr/>
          <p:nvPr/>
        </p:nvSpPr>
        <p:spPr>
          <a:xfrm>
            <a:off x="2852928" y="3639312"/>
            <a:ext cx="2331720" cy="731520"/>
          </a:xfrm>
          <a:prstGeom prst="rect">
            <a:avLst/>
          </a:prstGeom>
          <a:noFill/>
          <a:ln/>
        </p:spPr>
        <p:txBody>
          <a:bodyPr wrap="square" rtlCol="0" anchor="ctr"/>
          <a:lstStyle/>
          <a:p>
            <a:pPr marL="0" indent="0" algn="ctr">
              <a:buNone/>
            </a:pPr>
            <a:r>
              <a:rPr lang="en-US" sz="2200" b="1" dirty="0">
                <a:solidFill>
                  <a:srgbClr val="021A54"/>
                </a:solidFill>
                <a:latin typeface="jf open 粉圓 2.1" pitchFamily="34" charset="0"/>
                <a:ea typeface="jf open 粉圓 2.1" pitchFamily="34" charset="-122"/>
                <a:cs typeface="jf open 粉圓 2.1" pitchFamily="34" charset="-120"/>
              </a:rPr>
              <a:t>7 天</a:t>
            </a:r>
            <a:r>
              <a:rPr lang="en-US" sz="1100" dirty="0">
                <a:solidFill>
                  <a:srgbClr val="4F6082"/>
                </a:solidFill>
                <a:latin typeface="jf open 粉圓 2.1" pitchFamily="34" charset="0"/>
                <a:ea typeface="jf open 粉圓 2.1" pitchFamily="34" charset="-122"/>
                <a:cs typeface="jf open 粉圓 2.1" pitchFamily="34" charset="-120"/>
              </a:rPr>
              <a:t>  公開資料期間</a:t>
            </a:r>
            <a:endParaRPr lang="en-US" sz="2200" dirty="0"/>
          </a:p>
        </p:txBody>
      </p:sp>
      <p:sp>
        <p:nvSpPr>
          <p:cNvPr id="15" name="Shape 13"/>
          <p:cNvSpPr/>
          <p:nvPr/>
        </p:nvSpPr>
        <p:spPr>
          <a:xfrm>
            <a:off x="5440680" y="1143000"/>
            <a:ext cx="3429000" cy="1664208"/>
          </a:xfrm>
          <a:prstGeom prst="roundRect">
            <a:avLst>
              <a:gd name="adj" fmla="val 5495"/>
            </a:avLst>
          </a:prstGeom>
          <a:solidFill>
            <a:srgbClr val="FDECEA"/>
          </a:solidFill>
          <a:ln w="12700">
            <a:solidFill>
              <a:srgbClr val="E8A0A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6" name="Shape 14"/>
          <p:cNvSpPr/>
          <p:nvPr/>
        </p:nvSpPr>
        <p:spPr>
          <a:xfrm>
            <a:off x="5440680" y="1234440"/>
            <a:ext cx="64008" cy="1572768"/>
          </a:xfrm>
          <a:prstGeom prst="rect">
            <a:avLst/>
          </a:prstGeom>
          <a:solidFill>
            <a:srgbClr val="C0392B"/>
          </a:solidFill>
          <a:ln w="12700">
            <a:solidFill>
              <a:srgbClr val="C0392B"/>
            </a:solidFill>
            <a:prstDash val="solid"/>
          </a:ln>
        </p:spPr>
        <p:txBody>
          <a:bodyPr/>
          <a:lstStyle/>
          <a:p>
            <a:endParaRPr lang="zh-TW" altLang="en-US"/>
          </a:p>
        </p:txBody>
      </p:sp>
      <p:sp>
        <p:nvSpPr>
          <p:cNvPr id="17" name="Text 15"/>
          <p:cNvSpPr/>
          <p:nvPr/>
        </p:nvSpPr>
        <p:spPr>
          <a:xfrm>
            <a:off x="5596128" y="1234440"/>
            <a:ext cx="3154680" cy="274320"/>
          </a:xfrm>
          <a:prstGeom prst="rect">
            <a:avLst/>
          </a:prstGeom>
          <a:noFill/>
          <a:ln/>
        </p:spPr>
        <p:txBody>
          <a:bodyPr wrap="square" rtlCol="0" anchor="ctr"/>
          <a:lstStyle/>
          <a:p>
            <a:pPr marL="0" indent="0">
              <a:buNone/>
            </a:pPr>
            <a:r>
              <a:rPr lang="en-US" sz="1150" b="1" dirty="0">
                <a:solidFill>
                  <a:srgbClr val="C0392B"/>
                </a:solidFill>
                <a:latin typeface="jf open 粉圓 2.1" pitchFamily="34" charset="0"/>
                <a:ea typeface="jf open 粉圓 2.1" pitchFamily="34" charset="-122"/>
                <a:cs typeface="jf open 粉圓 2.1" pitchFamily="34" charset="-120"/>
              </a:rPr>
              <a:t>侷限一：新上架影片無法預測</a:t>
            </a:r>
            <a:endParaRPr lang="en-US" sz="1150" dirty="0"/>
          </a:p>
        </p:txBody>
      </p:sp>
      <p:sp>
        <p:nvSpPr>
          <p:cNvPr id="18" name="Text 16"/>
          <p:cNvSpPr/>
          <p:nvPr/>
        </p:nvSpPr>
        <p:spPr>
          <a:xfrm>
            <a:off x="5596128" y="1527048"/>
            <a:ext cx="3154680" cy="896112"/>
          </a:xfrm>
          <a:prstGeom prst="rect">
            <a:avLst/>
          </a:prstGeom>
          <a:noFill/>
          <a:ln/>
        </p:spPr>
        <p:txBody>
          <a:bodyPr wrap="square" rtlCol="0" anchor="t"/>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傳統協同過濾需影片在訓練集至少出現一次，才能訓練其 embedding。以「前 5 天訓練、後 2 天測試」切分後，21.4% 的測試影片從未在訓練期出現，預測等同隨機猜測。</a:t>
            </a:r>
            <a:endParaRPr lang="en-US" sz="1050" dirty="0"/>
          </a:p>
        </p:txBody>
      </p:sp>
      <p:sp>
        <p:nvSpPr>
          <p:cNvPr id="19" name="Text 17"/>
          <p:cNvSpPr/>
          <p:nvPr/>
        </p:nvSpPr>
        <p:spPr>
          <a:xfrm>
            <a:off x="5596128" y="2459736"/>
            <a:ext cx="3154680" cy="274320"/>
          </a:xfrm>
          <a:prstGeom prst="rect">
            <a:avLst/>
          </a:prstGeom>
          <a:noFill/>
          <a:ln/>
        </p:spPr>
        <p:txBody>
          <a:bodyPr wrap="square" rtlCol="0" anchor="ctr"/>
          <a:lstStyle/>
          <a:p>
            <a:pPr marL="0" indent="0">
              <a:buNone/>
            </a:pPr>
            <a:r>
              <a:rPr lang="en-US" sz="1300" b="1" dirty="0">
                <a:solidFill>
                  <a:srgbClr val="C0392B"/>
                </a:solidFill>
                <a:latin typeface="jf open 粉圓 2.1" pitchFamily="34" charset="0"/>
                <a:ea typeface="jf open 粉圓 2.1" pitchFamily="34" charset="-122"/>
                <a:cs typeface="jf open 粉圓 2.1" pitchFamily="34" charset="-120"/>
              </a:rPr>
              <a:t>21.4%</a:t>
            </a:r>
            <a:r>
              <a:rPr lang="en-US" sz="950" dirty="0">
                <a:solidFill>
                  <a:srgbClr val="4F6082"/>
                </a:solidFill>
                <a:latin typeface="jf open 粉圓 2.1" pitchFamily="34" charset="0"/>
                <a:ea typeface="jf open 粉圓 2.1" pitchFamily="34" charset="-122"/>
                <a:cs typeface="jf open 粉圓 2.1" pitchFamily="34" charset="-120"/>
              </a:rPr>
              <a:t>  測試影片無歷史資料</a:t>
            </a:r>
            <a:endParaRPr lang="en-US" sz="1300" dirty="0"/>
          </a:p>
        </p:txBody>
      </p:sp>
      <p:sp>
        <p:nvSpPr>
          <p:cNvPr id="20" name="Shape 18"/>
          <p:cNvSpPr/>
          <p:nvPr/>
        </p:nvSpPr>
        <p:spPr>
          <a:xfrm>
            <a:off x="5440680" y="2953512"/>
            <a:ext cx="3429000" cy="1664208"/>
          </a:xfrm>
          <a:prstGeom prst="roundRect">
            <a:avLst>
              <a:gd name="adj" fmla="val 5495"/>
            </a:avLst>
          </a:prstGeom>
          <a:solidFill>
            <a:srgbClr val="FDECEA"/>
          </a:solidFill>
          <a:ln w="12700">
            <a:solidFill>
              <a:srgbClr val="E8A0A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1" name="Shape 19"/>
          <p:cNvSpPr/>
          <p:nvPr/>
        </p:nvSpPr>
        <p:spPr>
          <a:xfrm>
            <a:off x="5440680" y="3044952"/>
            <a:ext cx="64008" cy="1572768"/>
          </a:xfrm>
          <a:prstGeom prst="rect">
            <a:avLst/>
          </a:prstGeom>
          <a:solidFill>
            <a:srgbClr val="C0392B"/>
          </a:solidFill>
          <a:ln w="12700">
            <a:solidFill>
              <a:srgbClr val="C0392B"/>
            </a:solidFill>
            <a:prstDash val="solid"/>
          </a:ln>
        </p:spPr>
        <p:txBody>
          <a:bodyPr/>
          <a:lstStyle/>
          <a:p>
            <a:endParaRPr lang="zh-TW" altLang="en-US"/>
          </a:p>
        </p:txBody>
      </p:sp>
      <p:sp>
        <p:nvSpPr>
          <p:cNvPr id="22" name="Text 20"/>
          <p:cNvSpPr/>
          <p:nvPr/>
        </p:nvSpPr>
        <p:spPr>
          <a:xfrm>
            <a:off x="5596128" y="3044952"/>
            <a:ext cx="3154680" cy="274320"/>
          </a:xfrm>
          <a:prstGeom prst="rect">
            <a:avLst/>
          </a:prstGeom>
          <a:noFill/>
          <a:ln/>
        </p:spPr>
        <p:txBody>
          <a:bodyPr wrap="square" rtlCol="0" anchor="ctr"/>
          <a:lstStyle/>
          <a:p>
            <a:pPr marL="0" indent="0">
              <a:buNone/>
            </a:pPr>
            <a:r>
              <a:rPr lang="en-US" sz="1150" b="1" dirty="0">
                <a:solidFill>
                  <a:srgbClr val="C0392B"/>
                </a:solidFill>
                <a:latin typeface="jf open 粉圓 2.1" pitchFamily="34" charset="0"/>
                <a:ea typeface="jf open 粉圓 2.1" pitchFamily="34" charset="-122"/>
                <a:cs typeface="jf open 粉圓 2.1" pitchFamily="34" charset="-120"/>
              </a:rPr>
              <a:t>侷限二：互動矩陣的極度稀疏</a:t>
            </a:r>
            <a:endParaRPr lang="en-US" sz="1150" dirty="0"/>
          </a:p>
        </p:txBody>
      </p:sp>
      <p:sp>
        <p:nvSpPr>
          <p:cNvPr id="23" name="Text 21"/>
          <p:cNvSpPr/>
          <p:nvPr/>
        </p:nvSpPr>
        <p:spPr>
          <a:xfrm>
            <a:off x="5596128" y="3337560"/>
            <a:ext cx="3154680" cy="896112"/>
          </a:xfrm>
          <a:prstGeom prst="rect">
            <a:avLst/>
          </a:prstGeom>
          <a:noFill/>
          <a:ln/>
        </p:spPr>
        <p:txBody>
          <a:bodyPr wrap="square" rtlCol="0" anchor="t"/>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矩陣稀疏度 99.93% 代表即使對已出現的影片，互動記錄也可能只有 1–2 人，統計極不穩定。最優推薦方法 BM3 的 Recall@10 仍僅達 2.38%。</a:t>
            </a:r>
            <a:endParaRPr lang="en-US" sz="1050" dirty="0"/>
          </a:p>
        </p:txBody>
      </p:sp>
      <p:sp>
        <p:nvSpPr>
          <p:cNvPr id="24" name="Text 22"/>
          <p:cNvSpPr/>
          <p:nvPr/>
        </p:nvSpPr>
        <p:spPr>
          <a:xfrm>
            <a:off x="5596128" y="4270248"/>
            <a:ext cx="3154680" cy="274320"/>
          </a:xfrm>
          <a:prstGeom prst="rect">
            <a:avLst/>
          </a:prstGeom>
          <a:noFill/>
          <a:ln/>
        </p:spPr>
        <p:txBody>
          <a:bodyPr wrap="square" rtlCol="0" anchor="ctr"/>
          <a:lstStyle/>
          <a:p>
            <a:pPr marL="0" indent="0">
              <a:buNone/>
            </a:pPr>
            <a:r>
              <a:rPr lang="en-US" sz="1300" b="1" dirty="0">
                <a:solidFill>
                  <a:srgbClr val="C0392B"/>
                </a:solidFill>
                <a:latin typeface="jf open 粉圓 2.1" pitchFamily="34" charset="0"/>
                <a:ea typeface="jf open 粉圓 2.1" pitchFamily="34" charset="-122"/>
                <a:cs typeface="jf open 粉圓 2.1" pitchFamily="34" charset="-120"/>
              </a:rPr>
              <a:t>99.93%</a:t>
            </a:r>
            <a:r>
              <a:rPr lang="en-US" sz="950" dirty="0">
                <a:solidFill>
                  <a:srgbClr val="4F6082"/>
                </a:solidFill>
                <a:latin typeface="jf open 粉圓 2.1" pitchFamily="34" charset="0"/>
                <a:ea typeface="jf open 粉圓 2.1" pitchFamily="34" charset="-122"/>
                <a:cs typeface="jf open 粉圓 2.1" pitchFamily="34" charset="-120"/>
              </a:rPr>
              <a:t>  使用者—影片矩陣稀疏度</a:t>
            </a:r>
            <a:endParaRPr lang="en-US" sz="1300" dirty="0"/>
          </a:p>
        </p:txBody>
      </p:sp>
      <p:sp>
        <p:nvSpPr>
          <p:cNvPr id="25" name="TextBox 24"/>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[9] Shang et al., WWW 2025 — </a:t>
            </a:r>
            <a:r>
              <a:rPr sz="750" dirty="0" err="1">
                <a:solidFill>
                  <a:srgbClr val="8A9AB8"/>
                </a:solidFill>
                <a:latin typeface="jf open 粉圓 2.1"/>
              </a:rPr>
              <a:t>ShortVideo</a:t>
            </a:r>
            <a:r>
              <a:rPr sz="750" dirty="0">
                <a:solidFill>
                  <a:srgbClr val="8A9AB8"/>
                </a:solidFill>
                <a:latin typeface="jf open 粉圓 2.1"/>
              </a:rPr>
              <a:t> dataset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err="1">
                <a:solidFill>
                  <a:srgbClr val="FFFFFF"/>
                </a:solidFill>
                <a:latin typeface="jf open 粉圓 2.1" pitchFamily="34" charset="0"/>
                <a:ea typeface="jf open 粉圓 2.1" pitchFamily="34" charset="-122"/>
                <a:cs typeface="jf open 粉圓 2.1" pitchFamily="34" charset="-120"/>
              </a:rPr>
              <a:t>文獻回顧：相關方法與侷限</a:t>
            </a:r>
            <a:endParaRPr lang="en-US" sz="2100" dirty="0"/>
          </a:p>
        </p:txBody>
      </p:sp>
      <p:sp>
        <p:nvSpPr>
          <p:cNvPr id="4" name="Shape 2"/>
          <p:cNvSpPr/>
          <p:nvPr/>
        </p:nvSpPr>
        <p:spPr>
          <a:xfrm>
            <a:off x="320040" y="777240"/>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320040" y="868680"/>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6" name="Shape 4"/>
          <p:cNvSpPr/>
          <p:nvPr/>
        </p:nvSpPr>
        <p:spPr>
          <a:xfrm>
            <a:off x="448056" y="868680"/>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7" name="Text 5"/>
          <p:cNvSpPr/>
          <p:nvPr/>
        </p:nvSpPr>
        <p:spPr>
          <a:xfrm>
            <a:off x="448056" y="86868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01</a:t>
            </a:r>
            <a:endParaRPr lang="en-US" sz="1100" dirty="0"/>
          </a:p>
        </p:txBody>
      </p:sp>
      <p:sp>
        <p:nvSpPr>
          <p:cNvPr id="8" name="Text 6"/>
          <p:cNvSpPr/>
          <p:nvPr/>
        </p:nvSpPr>
        <p:spPr>
          <a:xfrm>
            <a:off x="923544" y="850392"/>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BPR</a:t>
            </a:r>
            <a:endParaRPr lang="en-US" sz="1250" dirty="0"/>
          </a:p>
        </p:txBody>
      </p:sp>
      <p:sp>
        <p:nvSpPr>
          <p:cNvPr id="9" name="Text 7"/>
          <p:cNvSpPr/>
          <p:nvPr/>
        </p:nvSpPr>
        <p:spPr>
          <a:xfrm>
            <a:off x="923544" y="1097280"/>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Rendle et al., UAI 2009</a:t>
            </a:r>
            <a:endParaRPr lang="en-US" sz="850" dirty="0"/>
          </a:p>
        </p:txBody>
      </p:sp>
      <p:sp>
        <p:nvSpPr>
          <p:cNvPr id="10" name="Text 8"/>
          <p:cNvSpPr/>
          <p:nvPr/>
        </p:nvSpPr>
        <p:spPr>
          <a:xfrm>
            <a:off x="448056" y="1298448"/>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矩陣分解以 BPR 損失最大化正負樣本成對排名，學習使用者與影片的低維 embedding 向量。</a:t>
            </a:r>
            <a:endParaRPr lang="en-US" sz="950" dirty="0"/>
          </a:p>
        </p:txBody>
      </p:sp>
      <p:sp>
        <p:nvSpPr>
          <p:cNvPr id="11" name="Text 9"/>
          <p:cNvSpPr/>
          <p:nvPr/>
        </p:nvSpPr>
        <p:spPr>
          <a:xfrm>
            <a:off x="448056" y="1664208"/>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embedding 完全從互動記錄學習，新影片停在隨機初始化，預測等同雜訊</a:t>
            </a:r>
            <a:endParaRPr lang="en-US" sz="900" dirty="0"/>
          </a:p>
        </p:txBody>
      </p:sp>
      <p:sp>
        <p:nvSpPr>
          <p:cNvPr id="12" name="Shape 10"/>
          <p:cNvSpPr/>
          <p:nvPr/>
        </p:nvSpPr>
        <p:spPr>
          <a:xfrm>
            <a:off x="320040" y="2039112"/>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3" name="Shape 11"/>
          <p:cNvSpPr/>
          <p:nvPr/>
        </p:nvSpPr>
        <p:spPr>
          <a:xfrm>
            <a:off x="320040" y="2130552"/>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14" name="Shape 12"/>
          <p:cNvSpPr/>
          <p:nvPr/>
        </p:nvSpPr>
        <p:spPr>
          <a:xfrm>
            <a:off x="448056" y="2130552"/>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15" name="Text 13"/>
          <p:cNvSpPr/>
          <p:nvPr/>
        </p:nvSpPr>
        <p:spPr>
          <a:xfrm>
            <a:off x="448056" y="21305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02</a:t>
            </a:r>
            <a:endParaRPr lang="en-US" sz="1100" dirty="0"/>
          </a:p>
        </p:txBody>
      </p:sp>
      <p:sp>
        <p:nvSpPr>
          <p:cNvPr id="16" name="Text 14"/>
          <p:cNvSpPr/>
          <p:nvPr/>
        </p:nvSpPr>
        <p:spPr>
          <a:xfrm>
            <a:off x="923544" y="2112264"/>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LightGCN</a:t>
            </a:r>
            <a:endParaRPr lang="en-US" sz="1250" dirty="0"/>
          </a:p>
        </p:txBody>
      </p:sp>
      <p:sp>
        <p:nvSpPr>
          <p:cNvPr id="17" name="Text 15"/>
          <p:cNvSpPr/>
          <p:nvPr/>
        </p:nvSpPr>
        <p:spPr>
          <a:xfrm>
            <a:off x="923544" y="2359152"/>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He et al., SIGIR 2020</a:t>
            </a:r>
            <a:endParaRPr lang="en-US" sz="850" dirty="0"/>
          </a:p>
        </p:txBody>
      </p:sp>
      <p:sp>
        <p:nvSpPr>
          <p:cNvPr id="18" name="Text 16"/>
          <p:cNvSpPr/>
          <p:nvPr/>
        </p:nvSpPr>
        <p:spPr>
          <a:xfrm>
            <a:off x="448056" y="2560320"/>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簡化 GCN 推薦——移除特徵變換與非線性激活，在使用者-影片二部圖上傳遞高階協同訊號。</a:t>
            </a:r>
            <a:endParaRPr lang="en-US" sz="950" dirty="0"/>
          </a:p>
        </p:txBody>
      </p:sp>
      <p:sp>
        <p:nvSpPr>
          <p:cNvPr id="19" name="Text 17"/>
          <p:cNvSpPr/>
          <p:nvPr/>
        </p:nvSpPr>
        <p:spPr>
          <a:xfrm>
            <a:off x="448056" y="2926080"/>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新影片無邊，上架前表現預測問題依然無解</a:t>
            </a:r>
            <a:endParaRPr lang="en-US" sz="900" dirty="0"/>
          </a:p>
        </p:txBody>
      </p:sp>
      <p:sp>
        <p:nvSpPr>
          <p:cNvPr id="20" name="Shape 18"/>
          <p:cNvSpPr/>
          <p:nvPr/>
        </p:nvSpPr>
        <p:spPr>
          <a:xfrm>
            <a:off x="320040" y="3300984"/>
            <a:ext cx="4206240" cy="1170432"/>
          </a:xfrm>
          <a:prstGeom prst="roundRect">
            <a:avLst>
              <a:gd name="adj" fmla="val 7813"/>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1" name="Shape 19"/>
          <p:cNvSpPr/>
          <p:nvPr/>
        </p:nvSpPr>
        <p:spPr>
          <a:xfrm>
            <a:off x="320040" y="3392424"/>
            <a:ext cx="64008" cy="1078992"/>
          </a:xfrm>
          <a:prstGeom prst="rect">
            <a:avLst/>
          </a:prstGeom>
          <a:solidFill>
            <a:srgbClr val="4F6082"/>
          </a:solidFill>
          <a:ln w="12700">
            <a:solidFill>
              <a:srgbClr val="4F6082"/>
            </a:solidFill>
            <a:prstDash val="solid"/>
          </a:ln>
        </p:spPr>
        <p:txBody>
          <a:bodyPr/>
          <a:lstStyle/>
          <a:p>
            <a:endParaRPr lang="zh-TW" altLang="en-US"/>
          </a:p>
        </p:txBody>
      </p:sp>
      <p:sp>
        <p:nvSpPr>
          <p:cNvPr id="22" name="Shape 20"/>
          <p:cNvSpPr/>
          <p:nvPr/>
        </p:nvSpPr>
        <p:spPr>
          <a:xfrm>
            <a:off x="448056" y="3392424"/>
            <a:ext cx="384048" cy="384048"/>
          </a:xfrm>
          <a:prstGeom prst="ellipse">
            <a:avLst/>
          </a:prstGeom>
          <a:solidFill>
            <a:srgbClr val="4F6082"/>
          </a:solidFill>
          <a:ln w="12700">
            <a:solidFill>
              <a:srgbClr val="4F6082"/>
            </a:solidFill>
            <a:prstDash val="solid"/>
          </a:ln>
        </p:spPr>
        <p:txBody>
          <a:bodyPr/>
          <a:lstStyle/>
          <a:p>
            <a:endParaRPr lang="zh-TW" altLang="en-US"/>
          </a:p>
        </p:txBody>
      </p:sp>
      <p:sp>
        <p:nvSpPr>
          <p:cNvPr id="23" name="Text 21"/>
          <p:cNvSpPr/>
          <p:nvPr/>
        </p:nvSpPr>
        <p:spPr>
          <a:xfrm>
            <a:off x="448056" y="33924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03</a:t>
            </a:r>
            <a:endParaRPr lang="en-US" sz="1100" dirty="0"/>
          </a:p>
        </p:txBody>
      </p:sp>
      <p:sp>
        <p:nvSpPr>
          <p:cNvPr id="24" name="Text 22"/>
          <p:cNvSpPr/>
          <p:nvPr/>
        </p:nvSpPr>
        <p:spPr>
          <a:xfrm>
            <a:off x="923544" y="3374136"/>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MMGCN / BM3</a:t>
            </a:r>
            <a:endParaRPr lang="en-US" sz="1250" dirty="0"/>
          </a:p>
        </p:txBody>
      </p:sp>
      <p:sp>
        <p:nvSpPr>
          <p:cNvPr id="25" name="Text 23"/>
          <p:cNvSpPr/>
          <p:nvPr/>
        </p:nvSpPr>
        <p:spPr>
          <a:xfrm>
            <a:off x="923544" y="3621024"/>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Wei et al. 2019 · Zhou et al. 2023</a:t>
            </a:r>
            <a:endParaRPr lang="en-US" sz="850" dirty="0"/>
          </a:p>
        </p:txBody>
      </p:sp>
      <p:sp>
        <p:nvSpPr>
          <p:cNvPr id="26" name="Text 24"/>
          <p:cNvSpPr/>
          <p:nvPr/>
        </p:nvSpPr>
        <p:spPr>
          <a:xfrm>
            <a:off x="448056" y="3822192"/>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為視覺、音訊、文字各建使用者-影片圖，以 GCN / 自監督對比學習融合多模態特徵。</a:t>
            </a:r>
            <a:endParaRPr lang="en-US" sz="950" dirty="0"/>
          </a:p>
        </p:txBody>
      </p:sp>
      <p:sp>
        <p:nvSpPr>
          <p:cNvPr id="27" name="Text 25"/>
          <p:cNvSpPr/>
          <p:nvPr/>
        </p:nvSpPr>
        <p:spPr>
          <a:xfrm>
            <a:off x="448056" y="4187952"/>
            <a:ext cx="4005072" cy="219456"/>
          </a:xfrm>
          <a:prstGeom prst="rect">
            <a:avLst/>
          </a:prstGeom>
          <a:noFill/>
          <a:ln/>
        </p:spPr>
        <p:txBody>
          <a:bodyPr wrap="square" rtlCol="0" anchor="ctr"/>
          <a:lstStyle/>
          <a:p>
            <a:pPr marL="0" indent="0">
              <a:buNone/>
            </a:pPr>
            <a:r>
              <a:rPr lang="en-US" sz="900" b="1" dirty="0">
                <a:solidFill>
                  <a:srgbClr val="C0392B"/>
                </a:solidFill>
                <a:latin typeface="jf open 粉圓 2.1" pitchFamily="34" charset="0"/>
                <a:ea typeface="jf open 粉圓 2.1" pitchFamily="34" charset="-122"/>
                <a:cs typeface="jf open 粉圓 2.1" pitchFamily="34" charset="-120"/>
              </a:rPr>
              <a:t>✗  仍依賴使用者互動圖 G_m，新影片無法有效接入圖結構</a:t>
            </a:r>
            <a:endParaRPr lang="en-US" sz="900" dirty="0"/>
          </a:p>
        </p:txBody>
      </p:sp>
      <p:sp>
        <p:nvSpPr>
          <p:cNvPr id="28" name="Shape 26"/>
          <p:cNvSpPr/>
          <p:nvPr/>
        </p:nvSpPr>
        <p:spPr>
          <a:xfrm>
            <a:off x="4617720" y="777240"/>
            <a:ext cx="4206240" cy="1170432"/>
          </a:xfrm>
          <a:prstGeom prst="roundRect">
            <a:avLst>
              <a:gd name="adj" fmla="val 7813"/>
            </a:avLst>
          </a:prstGeom>
          <a:solidFill>
            <a:srgbClr val="FFF4E5"/>
          </a:solidFill>
          <a:ln w="12700">
            <a:solidFill>
              <a:srgbClr val="E8AA6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9" name="Shape 27"/>
          <p:cNvSpPr/>
          <p:nvPr/>
        </p:nvSpPr>
        <p:spPr>
          <a:xfrm>
            <a:off x="4617720" y="868680"/>
            <a:ext cx="64008" cy="1078992"/>
          </a:xfrm>
          <a:prstGeom prst="rect">
            <a:avLst/>
          </a:prstGeom>
          <a:solidFill>
            <a:srgbClr val="B85C00"/>
          </a:solidFill>
          <a:ln w="12700">
            <a:solidFill>
              <a:srgbClr val="B85C00"/>
            </a:solidFill>
            <a:prstDash val="solid"/>
          </a:ln>
        </p:spPr>
        <p:txBody>
          <a:bodyPr/>
          <a:lstStyle/>
          <a:p>
            <a:endParaRPr lang="zh-TW" altLang="en-US"/>
          </a:p>
        </p:txBody>
      </p:sp>
      <p:sp>
        <p:nvSpPr>
          <p:cNvPr id="30" name="Shape 28"/>
          <p:cNvSpPr/>
          <p:nvPr/>
        </p:nvSpPr>
        <p:spPr>
          <a:xfrm>
            <a:off x="4745736" y="868680"/>
            <a:ext cx="384048" cy="384048"/>
          </a:xfrm>
          <a:prstGeom prst="ellipse">
            <a:avLst/>
          </a:prstGeom>
          <a:solidFill>
            <a:srgbClr val="B85C00"/>
          </a:solidFill>
          <a:ln w="12700">
            <a:solidFill>
              <a:srgbClr val="B85C00"/>
            </a:solidFill>
            <a:prstDash val="solid"/>
          </a:ln>
        </p:spPr>
        <p:txBody>
          <a:bodyPr/>
          <a:lstStyle/>
          <a:p>
            <a:endParaRPr lang="zh-TW" altLang="en-US"/>
          </a:p>
        </p:txBody>
      </p:sp>
      <p:sp>
        <p:nvSpPr>
          <p:cNvPr id="31" name="Text 29"/>
          <p:cNvSpPr/>
          <p:nvPr/>
        </p:nvSpPr>
        <p:spPr>
          <a:xfrm>
            <a:off x="4745736" y="86868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04</a:t>
            </a:r>
            <a:endParaRPr lang="en-US" sz="1100" dirty="0"/>
          </a:p>
        </p:txBody>
      </p:sp>
      <p:sp>
        <p:nvSpPr>
          <p:cNvPr id="32" name="Text 30"/>
          <p:cNvSpPr/>
          <p:nvPr/>
        </p:nvSpPr>
        <p:spPr>
          <a:xfrm>
            <a:off x="5221224" y="850392"/>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MMVED / HMMVED</a:t>
            </a:r>
            <a:endParaRPr lang="en-US" sz="1250" dirty="0"/>
          </a:p>
        </p:txBody>
      </p:sp>
      <p:sp>
        <p:nvSpPr>
          <p:cNvPr id="33" name="Text 31"/>
          <p:cNvSpPr/>
          <p:nvPr/>
        </p:nvSpPr>
        <p:spPr>
          <a:xfrm>
            <a:off x="5221224" y="1097280"/>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Zhu et al. 2020 · Xie et al. 2021</a:t>
            </a:r>
            <a:endParaRPr lang="en-US" sz="850" dirty="0"/>
          </a:p>
        </p:txBody>
      </p:sp>
      <p:sp>
        <p:nvSpPr>
          <p:cNvPr id="34" name="Text 32"/>
          <p:cNvSpPr/>
          <p:nvPr/>
        </p:nvSpPr>
        <p:spPr>
          <a:xfrm>
            <a:off x="4745736" y="1298448"/>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多模態變分框架預測短影片人氣（Vine/NUS），HMMVED 進一步引入層次多任務架構。</a:t>
            </a:r>
            <a:endParaRPr lang="en-US" sz="950" dirty="0"/>
          </a:p>
        </p:txBody>
      </p:sp>
      <p:sp>
        <p:nvSpPr>
          <p:cNvPr id="35" name="Text 33"/>
          <p:cNvSpPr/>
          <p:nvPr/>
        </p:nvSpPr>
        <p:spPr>
          <a:xfrm>
            <a:off x="4745736" y="1664208"/>
            <a:ext cx="4005072" cy="219456"/>
          </a:xfrm>
          <a:prstGeom prst="rect">
            <a:avLst/>
          </a:prstGeom>
          <a:noFill/>
          <a:ln/>
        </p:spPr>
        <p:txBody>
          <a:bodyPr wrap="square" rtlCol="0" anchor="ctr"/>
          <a:lstStyle/>
          <a:p>
            <a:pPr marL="0" indent="0">
              <a:buNone/>
            </a:pPr>
            <a:r>
              <a:rPr lang="en-US" sz="900" b="1" dirty="0">
                <a:solidFill>
                  <a:srgbClr val="B85C00"/>
                </a:solidFill>
                <a:latin typeface="jf open 粉圓 2.1" pitchFamily="34" charset="0"/>
                <a:ea typeface="jf open 粉圓 2.1" pitchFamily="34" charset="-122"/>
                <a:cs typeface="jf open 粉圓 2.1" pitchFamily="34" charset="-120"/>
              </a:rPr>
              <a:t>✓ 不依賴互動記錄　✗  無圖鄰域訊號（視覺相似鄰居的觀看時長）</a:t>
            </a:r>
            <a:endParaRPr lang="en-US" sz="900" dirty="0"/>
          </a:p>
        </p:txBody>
      </p:sp>
      <p:sp>
        <p:nvSpPr>
          <p:cNvPr id="36" name="Shape 34"/>
          <p:cNvSpPr/>
          <p:nvPr/>
        </p:nvSpPr>
        <p:spPr>
          <a:xfrm>
            <a:off x="4617720" y="2039112"/>
            <a:ext cx="4206240" cy="1170432"/>
          </a:xfrm>
          <a:prstGeom prst="roundRect">
            <a:avLst>
              <a:gd name="adj" fmla="val 7813"/>
            </a:avLst>
          </a:prstGeom>
          <a:solidFill>
            <a:srgbClr val="FFF4E5"/>
          </a:solidFill>
          <a:ln w="12700">
            <a:solidFill>
              <a:srgbClr val="E8AA60"/>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37" name="Shape 35"/>
          <p:cNvSpPr/>
          <p:nvPr/>
        </p:nvSpPr>
        <p:spPr>
          <a:xfrm>
            <a:off x="4617720" y="2130552"/>
            <a:ext cx="64008" cy="1078992"/>
          </a:xfrm>
          <a:prstGeom prst="rect">
            <a:avLst/>
          </a:prstGeom>
          <a:solidFill>
            <a:srgbClr val="B85C00"/>
          </a:solidFill>
          <a:ln w="12700">
            <a:solidFill>
              <a:srgbClr val="B85C00"/>
            </a:solidFill>
            <a:prstDash val="solid"/>
          </a:ln>
        </p:spPr>
        <p:txBody>
          <a:bodyPr/>
          <a:lstStyle/>
          <a:p>
            <a:endParaRPr lang="zh-TW" altLang="en-US"/>
          </a:p>
        </p:txBody>
      </p:sp>
      <p:sp>
        <p:nvSpPr>
          <p:cNvPr id="38" name="Shape 36"/>
          <p:cNvSpPr/>
          <p:nvPr/>
        </p:nvSpPr>
        <p:spPr>
          <a:xfrm>
            <a:off x="4745736" y="2130552"/>
            <a:ext cx="384048" cy="384048"/>
          </a:xfrm>
          <a:prstGeom prst="ellipse">
            <a:avLst/>
          </a:prstGeom>
          <a:solidFill>
            <a:srgbClr val="B85C00"/>
          </a:solidFill>
          <a:ln w="12700">
            <a:solidFill>
              <a:srgbClr val="B85C00"/>
            </a:solidFill>
            <a:prstDash val="solid"/>
          </a:ln>
        </p:spPr>
        <p:txBody>
          <a:bodyPr/>
          <a:lstStyle/>
          <a:p>
            <a:endParaRPr lang="zh-TW" altLang="en-US"/>
          </a:p>
        </p:txBody>
      </p:sp>
      <p:sp>
        <p:nvSpPr>
          <p:cNvPr id="39" name="Text 37"/>
          <p:cNvSpPr/>
          <p:nvPr/>
        </p:nvSpPr>
        <p:spPr>
          <a:xfrm>
            <a:off x="4745736" y="213055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05</a:t>
            </a:r>
            <a:endParaRPr lang="en-US" sz="1100" dirty="0"/>
          </a:p>
        </p:txBody>
      </p:sp>
      <p:sp>
        <p:nvSpPr>
          <p:cNvPr id="40" name="Text 38"/>
          <p:cNvSpPr/>
          <p:nvPr/>
        </p:nvSpPr>
        <p:spPr>
          <a:xfrm>
            <a:off x="5221224" y="2112264"/>
            <a:ext cx="3520440" cy="256032"/>
          </a:xfrm>
          <a:prstGeom prst="rect">
            <a:avLst/>
          </a:prstGeom>
          <a:noFill/>
          <a:ln/>
        </p:spPr>
        <p:txBody>
          <a:bodyPr wrap="square" rtlCol="0" anchor="ctr"/>
          <a:lstStyle/>
          <a:p>
            <a:pPr marL="0" indent="0">
              <a:buNone/>
            </a:pPr>
            <a:r>
              <a:rPr lang="en-US" sz="1250" b="1" dirty="0">
                <a:solidFill>
                  <a:srgbClr val="021A54"/>
                </a:solidFill>
                <a:latin typeface="jf open 粉圓 2.1" pitchFamily="34" charset="0"/>
                <a:ea typeface="jf open 粉圓 2.1" pitchFamily="34" charset="-122"/>
                <a:cs typeface="jf open 粉圓 2.1" pitchFamily="34" charset="-120"/>
              </a:rPr>
              <a:t>LightGBM</a:t>
            </a:r>
            <a:endParaRPr lang="en-US" sz="1250" dirty="0"/>
          </a:p>
        </p:txBody>
      </p:sp>
      <p:sp>
        <p:nvSpPr>
          <p:cNvPr id="41" name="Text 39"/>
          <p:cNvSpPr/>
          <p:nvPr/>
        </p:nvSpPr>
        <p:spPr>
          <a:xfrm>
            <a:off x="5221224" y="2359152"/>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Ke et al., NeurIPS 2017</a:t>
            </a:r>
            <a:endParaRPr lang="en-US" sz="850" dirty="0"/>
          </a:p>
        </p:txBody>
      </p:sp>
      <p:sp>
        <p:nvSpPr>
          <p:cNvPr id="42" name="Text 40"/>
          <p:cNvSpPr/>
          <p:nvPr/>
        </p:nvSpPr>
        <p:spPr>
          <a:xfrm>
            <a:off x="4745736" y="2560320"/>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梯度提升決策樹以影片自身特徵向量（R^819）直接回歸 8 個表現指標，本研究的非圖基準模型。</a:t>
            </a:r>
            <a:endParaRPr lang="en-US" sz="950" dirty="0"/>
          </a:p>
        </p:txBody>
      </p:sp>
      <p:sp>
        <p:nvSpPr>
          <p:cNvPr id="43" name="Text 41"/>
          <p:cNvSpPr/>
          <p:nvPr/>
        </p:nvSpPr>
        <p:spPr>
          <a:xfrm>
            <a:off x="4745736" y="2926080"/>
            <a:ext cx="4005072" cy="219456"/>
          </a:xfrm>
          <a:prstGeom prst="rect">
            <a:avLst/>
          </a:prstGeom>
          <a:noFill/>
          <a:ln/>
        </p:spPr>
        <p:txBody>
          <a:bodyPr wrap="square" rtlCol="0" anchor="ctr"/>
          <a:lstStyle/>
          <a:p>
            <a:pPr marL="0" indent="0">
              <a:buNone/>
            </a:pPr>
            <a:r>
              <a:rPr lang="en-US" sz="900" b="1" dirty="0">
                <a:solidFill>
                  <a:srgbClr val="B85C00"/>
                </a:solidFill>
                <a:latin typeface="jf open 粉圓 2.1" pitchFamily="34" charset="0"/>
                <a:ea typeface="jf open 粉圓 2.1" pitchFamily="34" charset="-122"/>
                <a:cs typeface="jf open 粉圓 2.1" pitchFamily="34" charset="-120"/>
              </a:rPr>
              <a:t>✓ 天然支援無歷史資料情境　✗  無法利用跨影片關聯性訊號</a:t>
            </a:r>
            <a:endParaRPr lang="en-US" sz="900" dirty="0"/>
          </a:p>
        </p:txBody>
      </p:sp>
      <p:sp>
        <p:nvSpPr>
          <p:cNvPr id="44" name="Shape 42"/>
          <p:cNvSpPr/>
          <p:nvPr/>
        </p:nvSpPr>
        <p:spPr>
          <a:xfrm>
            <a:off x="4617720" y="3300984"/>
            <a:ext cx="4206240" cy="1170432"/>
          </a:xfrm>
          <a:prstGeom prst="roundRect">
            <a:avLst>
              <a:gd name="adj" fmla="val 7813"/>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45" name="Shape 43"/>
          <p:cNvSpPr/>
          <p:nvPr/>
        </p:nvSpPr>
        <p:spPr>
          <a:xfrm>
            <a:off x="4617720" y="3392424"/>
            <a:ext cx="64008" cy="1078992"/>
          </a:xfrm>
          <a:prstGeom prst="rect">
            <a:avLst/>
          </a:prstGeom>
          <a:solidFill>
            <a:srgbClr val="FF85BB"/>
          </a:solidFill>
          <a:ln w="12700">
            <a:solidFill>
              <a:srgbClr val="FF85BB"/>
            </a:solidFill>
            <a:prstDash val="solid"/>
          </a:ln>
        </p:spPr>
        <p:txBody>
          <a:bodyPr/>
          <a:lstStyle/>
          <a:p>
            <a:endParaRPr lang="zh-TW" altLang="en-US"/>
          </a:p>
        </p:txBody>
      </p:sp>
      <p:sp>
        <p:nvSpPr>
          <p:cNvPr id="46" name="Shape 44"/>
          <p:cNvSpPr/>
          <p:nvPr/>
        </p:nvSpPr>
        <p:spPr>
          <a:xfrm>
            <a:off x="4745736" y="3392424"/>
            <a:ext cx="384048" cy="384048"/>
          </a:xfrm>
          <a:prstGeom prst="ellipse">
            <a:avLst/>
          </a:prstGeom>
          <a:solidFill>
            <a:srgbClr val="FF85BB"/>
          </a:solidFill>
          <a:ln w="12700">
            <a:solidFill>
              <a:srgbClr val="FF85BB"/>
            </a:solidFill>
            <a:prstDash val="solid"/>
          </a:ln>
        </p:spPr>
        <p:txBody>
          <a:bodyPr/>
          <a:lstStyle/>
          <a:p>
            <a:endParaRPr lang="zh-TW" altLang="en-US"/>
          </a:p>
        </p:txBody>
      </p:sp>
      <p:sp>
        <p:nvSpPr>
          <p:cNvPr id="47" name="Text 45"/>
          <p:cNvSpPr/>
          <p:nvPr/>
        </p:nvSpPr>
        <p:spPr>
          <a:xfrm>
            <a:off x="4745736" y="339242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jf open 粉圓 2.1" pitchFamily="34" charset="0"/>
                <a:ea typeface="jf open 粉圓 2.1" pitchFamily="34" charset="-122"/>
                <a:cs typeface="jf open 粉圓 2.1" pitchFamily="34" charset="-120"/>
              </a:rPr>
              <a:t>★</a:t>
            </a:r>
            <a:endParaRPr lang="en-US" sz="1100" dirty="0"/>
          </a:p>
        </p:txBody>
      </p:sp>
      <p:sp>
        <p:nvSpPr>
          <p:cNvPr id="48" name="Text 46"/>
          <p:cNvSpPr/>
          <p:nvPr/>
        </p:nvSpPr>
        <p:spPr>
          <a:xfrm>
            <a:off x="5221224" y="3374136"/>
            <a:ext cx="3520440" cy="256032"/>
          </a:xfrm>
          <a:prstGeom prst="rect">
            <a:avLst/>
          </a:prstGeom>
          <a:noFill/>
          <a:ln/>
        </p:spPr>
        <p:txBody>
          <a:bodyPr wrap="square" rtlCol="0" anchor="ctr"/>
          <a:lstStyle/>
          <a:p>
            <a:pPr marL="0" indent="0">
              <a:buNone/>
            </a:pPr>
            <a:r>
              <a:rPr lang="en-US" sz="1250" b="1" dirty="0" err="1">
                <a:solidFill>
                  <a:srgbClr val="021A54"/>
                </a:solidFill>
                <a:latin typeface="jf open 粉圓 2.1" pitchFamily="34" charset="0"/>
                <a:ea typeface="jf open 粉圓 2.1" pitchFamily="34" charset="-122"/>
                <a:cs typeface="jf open 粉圓 2.1" pitchFamily="34" charset="-120"/>
              </a:rPr>
              <a:t>GraphSAGE（target</a:t>
            </a:r>
            <a:r>
              <a:rPr lang="en-US" sz="1250" b="1" dirty="0">
                <a:solidFill>
                  <a:srgbClr val="021A54"/>
                </a:solidFill>
                <a:latin typeface="jf open 粉圓 2.1" pitchFamily="34" charset="0"/>
                <a:ea typeface="jf open 粉圓 2.1" pitchFamily="34" charset="-122"/>
                <a:cs typeface="jf open 粉圓 2.1" pitchFamily="34" charset="-120"/>
              </a:rPr>
              <a:t> paper）</a:t>
            </a:r>
            <a:endParaRPr lang="en-US" sz="1250" dirty="0"/>
          </a:p>
        </p:txBody>
      </p:sp>
      <p:sp>
        <p:nvSpPr>
          <p:cNvPr id="49" name="Text 47"/>
          <p:cNvSpPr/>
          <p:nvPr/>
        </p:nvSpPr>
        <p:spPr>
          <a:xfrm>
            <a:off x="5221224" y="3621024"/>
            <a:ext cx="3520440" cy="182880"/>
          </a:xfrm>
          <a:prstGeom prst="rect">
            <a:avLst/>
          </a:prstGeom>
          <a:noFill/>
          <a:ln/>
        </p:spPr>
        <p:txBody>
          <a:bodyPr wrap="square" rtlCol="0" anchor="ctr"/>
          <a:lstStyle/>
          <a:p>
            <a:pPr marL="0" indent="0">
              <a:buNone/>
            </a:pPr>
            <a:r>
              <a:rPr lang="en-US" sz="850" i="1" dirty="0">
                <a:solidFill>
                  <a:srgbClr val="8A9AB8"/>
                </a:solidFill>
                <a:latin typeface="jf open 粉圓 2.1" pitchFamily="34" charset="0"/>
                <a:ea typeface="jf open 粉圓 2.1" pitchFamily="34" charset="-122"/>
                <a:cs typeface="jf open 粉圓 2.1" pitchFamily="34" charset="-120"/>
              </a:rPr>
              <a:t>Hamilton et al., NeurIPS 2017</a:t>
            </a:r>
            <a:endParaRPr lang="en-US" sz="850" dirty="0"/>
          </a:p>
        </p:txBody>
      </p:sp>
      <p:sp>
        <p:nvSpPr>
          <p:cNvPr id="50" name="Text 48"/>
          <p:cNvSpPr/>
          <p:nvPr/>
        </p:nvSpPr>
        <p:spPr>
          <a:xfrm>
            <a:off x="4745736" y="3822192"/>
            <a:ext cx="4005072" cy="329184"/>
          </a:xfrm>
          <a:prstGeom prst="rect">
            <a:avLst/>
          </a:prstGeom>
          <a:noFill/>
          <a:ln/>
        </p:spPr>
        <p:txBody>
          <a:bodyPr wrap="square" rtlCol="0" anchor="t"/>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歸納學習框架——訓練完成後，對訓練期從未出現的新節點也能產生有意義的 embedding。</a:t>
            </a:r>
            <a:endParaRPr lang="en-US" sz="950" dirty="0"/>
          </a:p>
        </p:txBody>
      </p:sp>
      <p:sp>
        <p:nvSpPr>
          <p:cNvPr id="51" name="Text 49"/>
          <p:cNvSpPr/>
          <p:nvPr/>
        </p:nvSpPr>
        <p:spPr>
          <a:xfrm>
            <a:off x="4745736" y="4187952"/>
            <a:ext cx="4005072" cy="219456"/>
          </a:xfrm>
          <a:prstGeom prst="rect">
            <a:avLst/>
          </a:prstGeom>
          <a:noFill/>
          <a:ln/>
        </p:spPr>
        <p:txBody>
          <a:bodyPr wrap="square" rtlCol="0" anchor="ctr"/>
          <a:lstStyle/>
          <a:p>
            <a:pPr marL="0" indent="0">
              <a:buNone/>
            </a:pPr>
            <a:r>
              <a:rPr lang="en-US" sz="900" b="1" dirty="0">
                <a:solidFill>
                  <a:srgbClr val="021A54"/>
                </a:solidFill>
                <a:latin typeface="jf open 粉圓 2.1" pitchFamily="34" charset="0"/>
                <a:ea typeface="jf open 粉圓 2.1" pitchFamily="34" charset="-122"/>
                <a:cs typeface="jf open 粉圓 2.1" pitchFamily="34" charset="-120"/>
              </a:rPr>
              <a:t>✓ 可泛化至新節點，適合上架前情境；本研究擴展為異質版 HeteroGNN</a:t>
            </a:r>
            <a:endParaRPr lang="en-US" sz="900" dirty="0"/>
          </a:p>
        </p:txBody>
      </p:sp>
      <p:sp>
        <p:nvSpPr>
          <p:cNvPr id="52" name="Text 50"/>
          <p:cNvSpPr/>
          <p:nvPr/>
        </p:nvSpPr>
        <p:spPr>
          <a:xfrm>
            <a:off x="320040" y="4544568"/>
            <a:ext cx="8503920" cy="347472"/>
          </a:xfrm>
          <a:prstGeom prst="rect">
            <a:avLst/>
          </a:prstGeom>
          <a:noFill/>
          <a:ln/>
        </p:spPr>
        <p:txBody>
          <a:bodyPr wrap="square" rtlCol="0" anchor="ctr"/>
          <a:lstStyle/>
          <a:p>
            <a:pPr marL="0" indent="0" algn="ctr">
              <a:buNone/>
            </a:pPr>
            <a:r>
              <a:rPr lang="en-US" sz="950" i="1" dirty="0">
                <a:solidFill>
                  <a:srgbClr val="021A54"/>
                </a:solidFill>
                <a:latin typeface="jf open 粉圓 2.1" pitchFamily="34" charset="0"/>
                <a:ea typeface="jf open 粉圓 2.1" pitchFamily="34" charset="-122"/>
                <a:cs typeface="jf open 粉圓 2.1" pitchFamily="34" charset="-120"/>
              </a:rPr>
              <a:t>BPR / LightGCN 無法解決冷啟動　→　MMGCN / BM3 </a:t>
            </a:r>
            <a:r>
              <a:rPr lang="en-US" sz="800" i="1" dirty="0">
                <a:solidFill>
                  <a:srgbClr val="021A54"/>
                </a:solidFill>
                <a:latin typeface="jf open 粉圓 2.1" pitchFamily="34" charset="0"/>
                <a:ea typeface="jf open 粉圓 2.1" pitchFamily="34" charset="-122"/>
                <a:cs typeface="jf open 粉圓 2.1" pitchFamily="34" charset="-120"/>
              </a:rPr>
              <a:t>引入多模態但仍依賴互動圖</a:t>
            </a:r>
            <a:r>
              <a:rPr lang="en-US" sz="950" i="1" dirty="0">
                <a:solidFill>
                  <a:srgbClr val="021A54"/>
                </a:solidFill>
                <a:latin typeface="jf open 粉圓 2.1" pitchFamily="34" charset="0"/>
                <a:ea typeface="jf open 粉圓 2.1" pitchFamily="34" charset="-122"/>
                <a:cs typeface="jf open 粉圓 2.1" pitchFamily="34" charset="-120"/>
              </a:rPr>
              <a:t>　→　LightGBM 無圖訊號　→　本研究以 GraphSAGE 異質圖填補空缺</a:t>
            </a:r>
            <a:endParaRPr lang="en-US" sz="950" dirty="0">
              <a:solidFill>
                <a:srgbClr val="021A54"/>
              </a:solidFill>
            </a:endParaRPr>
          </a:p>
        </p:txBody>
      </p:sp>
      <p:sp>
        <p:nvSpPr>
          <p:cNvPr id="53" name="TextBox 52"/>
          <p:cNvSpPr txBox="1"/>
          <p:nvPr/>
        </p:nvSpPr>
        <p:spPr>
          <a:xfrm>
            <a:off x="320400" y="4946400"/>
            <a:ext cx="8503920" cy="201168"/>
          </a:xfrm>
          <a:prstGeom prst="rect">
            <a:avLst/>
          </a:prstGeom>
          <a:noFill/>
        </p:spPr>
        <p:txBody>
          <a:bodyPr wrap="none">
            <a:spAutoFit/>
          </a:bodyPr>
          <a:lstStyle/>
          <a:p>
            <a:r>
              <a:rPr sz="750" dirty="0">
                <a:solidFill>
                  <a:srgbClr val="8A9AB8"/>
                </a:solidFill>
                <a:latin typeface="jf open 粉圓 2.1"/>
              </a:rPr>
              <a:t>Ref: [1] </a:t>
            </a:r>
            <a:r>
              <a:rPr sz="750" dirty="0" err="1">
                <a:solidFill>
                  <a:srgbClr val="8A9AB8"/>
                </a:solidFill>
                <a:latin typeface="jf open 粉圓 2.1"/>
              </a:rPr>
              <a:t>Rendle</a:t>
            </a:r>
            <a:r>
              <a:rPr sz="750" dirty="0">
                <a:solidFill>
                  <a:srgbClr val="8A9AB8"/>
                </a:solidFill>
                <a:latin typeface="jf open 粉圓 2.1"/>
              </a:rPr>
              <a:t>, UAI 2009  [2] He, SIGIR 2020  [3] Wei, MM 2019  [4] Zhou, WWW 2023  [5] Zhu, ICME 2020  [6] Xie, ICME 2021  [7] Ke, </a:t>
            </a:r>
            <a:r>
              <a:rPr sz="750" dirty="0" err="1">
                <a:solidFill>
                  <a:srgbClr val="8A9AB8"/>
                </a:solidFill>
                <a:latin typeface="jf open 粉圓 2.1"/>
              </a:rPr>
              <a:t>NeurIPS</a:t>
            </a:r>
            <a:r>
              <a:rPr sz="750" dirty="0">
                <a:solidFill>
                  <a:srgbClr val="8A9AB8"/>
                </a:solidFill>
                <a:latin typeface="jf open 粉圓 2.1"/>
              </a:rPr>
              <a:t> 2017  [8] Hamilton, </a:t>
            </a:r>
            <a:r>
              <a:rPr sz="750" dirty="0" err="1">
                <a:solidFill>
                  <a:srgbClr val="8A9AB8"/>
                </a:solidFill>
                <a:latin typeface="jf open 粉圓 2.1"/>
              </a:rPr>
              <a:t>NeurIPS</a:t>
            </a:r>
            <a:r>
              <a:rPr sz="750" dirty="0">
                <a:solidFill>
                  <a:srgbClr val="8A9AB8"/>
                </a:solidFill>
                <a:latin typeface="jf open 粉圓 2.1"/>
              </a:rPr>
              <a:t> 2017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現有方法的不足與本研究的定位</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525098959"/>
              </p:ext>
            </p:extLst>
          </p:nvPr>
        </p:nvGraphicFramePr>
        <p:xfrm>
          <a:off x="320040" y="777240"/>
          <a:ext cx="8503920" cy="3794760"/>
        </p:xfrm>
        <a:graphic>
          <a:graphicData uri="http://schemas.openxmlformats.org/drawingml/2006/table">
            <a:tbl>
              <a:tblPr/>
              <a:tblGrid>
                <a:gridCol w="169164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1164784">
                  <a:extLst>
                    <a:ext uri="{9D8B030D-6E8A-4147-A177-3AD203B41FA5}">
                      <a16:colId xmlns:a16="http://schemas.microsoft.com/office/drawing/2014/main" val="20003"/>
                    </a:ext>
                  </a:extLst>
                </a:gridCol>
                <a:gridCol w="995083">
                  <a:extLst>
                    <a:ext uri="{9D8B030D-6E8A-4147-A177-3AD203B41FA5}">
                      <a16:colId xmlns:a16="http://schemas.microsoft.com/office/drawing/2014/main" val="20004"/>
                    </a:ext>
                  </a:extLst>
                </a:gridCol>
                <a:gridCol w="2860189">
                  <a:extLst>
                    <a:ext uri="{9D8B030D-6E8A-4147-A177-3AD203B41FA5}">
                      <a16:colId xmlns:a16="http://schemas.microsoft.com/office/drawing/2014/main" val="20005"/>
                    </a:ext>
                  </a:extLst>
                </a:gridCol>
              </a:tblGrid>
              <a:tr h="474345">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方法</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上架前預測</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全平台指標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不需使用者歷史</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圖鄰域訊號</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主要侷限</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BPR</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純互動 embedding，新影片無梯度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LightGCN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dirty="0">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dirty="0">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同質互動二部圖，新影片無邊</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MMGCN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多模態 emb，仍依賴互動圖 G_m</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BM3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B85C00"/>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自監督對比，主場景仍為推薦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MMVED / HMMVED</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多模態人氣預測，無圖鄰域訊號</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7434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LightGBM（直接基準）</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400" b="1">
                          <a:solidFill>
                            <a:srgbClr val="C0392B"/>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僅利用影片自身特徵，無跨影片關聯</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74345">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本研究（HeteroGNN）</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400" b="1" dirty="0">
                          <a:solidFill>
                            <a:srgbClr val="1A7A4A"/>
                          </a:solidFill>
                          <a:latin typeface="jf open 粉圓 2.1" pitchFamily="34" charset="0"/>
                          <a:ea typeface="jf open 粉圓 2.1" pitchFamily="34" charset="-122"/>
                          <a:cs typeface="jf open 粉圓 2.1" pitchFamily="34" charset="-120"/>
                        </a:rPr>
                        <a:t>✓</a:t>
                      </a:r>
                      <a:endParaRPr lang="en-US" sz="1400" b="1"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唯一同時滿足四個核心需求的方法</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7"/>
                  </a:ext>
                </a:extLst>
              </a:tr>
            </a:tbl>
          </a:graphicData>
        </a:graphic>
      </p:graphicFrame>
      <p:sp>
        <p:nvSpPr>
          <p:cNvPr id="5" name="Text 2"/>
          <p:cNvSpPr/>
          <p:nvPr/>
        </p:nvSpPr>
        <p:spPr>
          <a:xfrm>
            <a:off x="320040" y="4663440"/>
            <a:ext cx="4114800" cy="256032"/>
          </a:xfrm>
          <a:prstGeom prst="rect">
            <a:avLst/>
          </a:prstGeom>
          <a:noFill/>
          <a:ln/>
        </p:spPr>
        <p:txBody>
          <a:bodyPr wrap="square" rtlCol="0" anchor="ctr"/>
          <a:lstStyle/>
          <a:p>
            <a:pPr marL="0" indent="0">
              <a:buNone/>
            </a:pPr>
            <a:r>
              <a:rPr lang="en-US" sz="950" b="1" dirty="0">
                <a:solidFill>
                  <a:srgbClr val="4F6082"/>
                </a:solidFill>
                <a:latin typeface="jf open 粉圓 2.1" pitchFamily="34" charset="0"/>
                <a:ea typeface="jf open 粉圓 2.1" pitchFamily="34" charset="-122"/>
                <a:cs typeface="jf open 粉圓 2.1" pitchFamily="34" charset="-120"/>
              </a:rPr>
              <a:t>✗：不支援　△：部分支援　✓：完整支援</a:t>
            </a:r>
            <a:endParaRPr lang="en-US" sz="950" b="1" dirty="0"/>
          </a:p>
        </p:txBody>
      </p:sp>
      <p:sp>
        <p:nvSpPr>
          <p:cNvPr id="4" name="Text 3"/>
          <p:cNvSpPr/>
          <p:nvPr/>
        </p:nvSpPr>
        <p:spPr>
          <a:xfrm>
            <a:off x="4480560" y="4663440"/>
            <a:ext cx="4343400" cy="256032"/>
          </a:xfrm>
          <a:prstGeom prst="rect">
            <a:avLst/>
          </a:prstGeom>
          <a:noFill/>
          <a:ln/>
        </p:spPr>
        <p:txBody>
          <a:bodyPr wrap="square" rtlCol="0" anchor="ctr"/>
          <a:lstStyle/>
          <a:p>
            <a:pPr marL="0" indent="0" algn="r">
              <a:buNone/>
            </a:pPr>
            <a:r>
              <a:rPr lang="en-US" sz="1000" b="1" dirty="0">
                <a:solidFill>
                  <a:srgbClr val="FF85BB"/>
                </a:solidFill>
                <a:latin typeface="jf open 粉圓 2.1" pitchFamily="34" charset="0"/>
                <a:ea typeface="jf open 粉圓 2.1" pitchFamily="34" charset="-122"/>
                <a:cs typeface="jf open 粉圓 2.1" pitchFamily="34" charset="-120"/>
              </a:rPr>
              <a:t>★ 本研究填補「無歷史資料 + 圖鄰域訊號」的空缺</a:t>
            </a:r>
            <a:endParaRPr lang="en-US" sz="1000" dirty="0"/>
          </a:p>
        </p:txBody>
      </p:sp>
      <p:sp>
        <p:nvSpPr>
          <p:cNvPr id="7" name="TextBox 6"/>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see References slide for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資料集概覽：ShortVideo (Shang et al., WWW 2025)</a:t>
            </a:r>
            <a:endParaRPr lang="en-US" sz="2100" dirty="0"/>
          </a:p>
        </p:txBody>
      </p:sp>
      <p:sp>
        <p:nvSpPr>
          <p:cNvPr id="4" name="Text 2"/>
          <p:cNvSpPr/>
          <p:nvPr/>
        </p:nvSpPr>
        <p:spPr>
          <a:xfrm>
            <a:off x="36576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核心統計</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579508697"/>
              </p:ext>
            </p:extLst>
          </p:nvPr>
        </p:nvGraphicFramePr>
        <p:xfrm>
          <a:off x="365760" y="1078992"/>
          <a:ext cx="4846320" cy="3703320"/>
        </p:xfrm>
        <a:graphic>
          <a:graphicData uri="http://schemas.openxmlformats.org/drawingml/2006/table">
            <a:tbl>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462915">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項目</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數值</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說明</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使用者數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匿名化，含性別、年齡、城市等 6 種屬性</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影片數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153,561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每部有原始 .mp4 及預抽取特徵</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互動記錄數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6,767,010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28 欄，含 7 種行為 + 觀看時長</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視覺特徵維度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768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ViT-B/16 平均池化（image_feat.npy）</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文字特徵維度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50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SBERT 降維（text_feat.npy）</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2915">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矩陣稀疏度</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b="1" dirty="0">
                          <a:solidFill>
                            <a:srgbClr val="C0392B"/>
                          </a:solidFill>
                          <a:latin typeface="jf open 粉圓 2.1" pitchFamily="34" charset="0"/>
                          <a:ea typeface="jf open 粉圓 2.1" pitchFamily="34" charset="-122"/>
                          <a:cs typeface="jf open 粉圓 2.1" pitchFamily="34" charset="-120"/>
                        </a:rPr>
                        <a:t>99.93%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僅 0.07% 的使用者—影片格子非空</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2915">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平均被互動人數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6.6 人</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大量影片互動記錄極少</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5394960" y="777240"/>
            <a:ext cx="352044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8 個行為指標的稀疏度（54,088 部有效樣本）</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3575901074"/>
              </p:ext>
            </p:extLst>
          </p:nvPr>
        </p:nvGraphicFramePr>
        <p:xfrm>
          <a:off x="5394960" y="1078992"/>
          <a:ext cx="3520440" cy="2788920"/>
        </p:xfrm>
        <a:graphic>
          <a:graphicData uri="http://schemas.openxmlformats.org/drawingml/2006/table">
            <a:tbl>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09880">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中位數</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1050" b="1" dirty="0">
                          <a:solidFill>
                            <a:srgbClr val="FFFFFF"/>
                          </a:solidFill>
                          <a:latin typeface="jf open 粉圓 2.1" pitchFamily="34" charset="0"/>
                          <a:ea typeface="jf open 粉圓 2.1" pitchFamily="34" charset="-122"/>
                          <a:cs typeface="jf open 粉圓 2.1" pitchFamily="34" charset="-120"/>
                        </a:rPr>
                        <a:t>零值比例</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like_rate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84.6%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comment_rate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96.7%</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follow_rate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96.9%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collect_rate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95.2%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forward_rate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98.0%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hate_rate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0.000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99.2%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9880">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effective_view_rate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0.833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1.8%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9880">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mean_watch_time ★</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000000"/>
                          </a:solidFill>
                          <a:latin typeface="jf open 粉圓 2.1" pitchFamily="34" charset="0"/>
                          <a:ea typeface="jf open 粉圓 2.1" pitchFamily="34" charset="-122"/>
                          <a:cs typeface="jf open 粉圓 2.1" pitchFamily="34" charset="-120"/>
                        </a:rPr>
                        <a:t>22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1A7A4A"/>
                          </a:solidFill>
                          <a:latin typeface="jf open 粉圓 2.1" pitchFamily="34" charset="0"/>
                          <a:ea typeface="jf open 粉圓 2.1" pitchFamily="34" charset="-122"/>
                          <a:cs typeface="jf open 粉圓 2.1" pitchFamily="34" charset="-120"/>
                        </a:rPr>
                        <a:t>0.2%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8"/>
                  </a:ext>
                </a:extLst>
              </a:tr>
            </a:tbl>
          </a:graphicData>
        </a:graphic>
      </p:graphicFrame>
      <p:sp>
        <p:nvSpPr>
          <p:cNvPr id="8" name="Shape 4"/>
          <p:cNvSpPr/>
          <p:nvPr/>
        </p:nvSpPr>
        <p:spPr>
          <a:xfrm>
            <a:off x="5394960" y="3950208"/>
            <a:ext cx="3520440" cy="868680"/>
          </a:xfrm>
          <a:prstGeom prst="roundRect">
            <a:avLst>
              <a:gd name="adj" fmla="val 10526"/>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7" name="Shape 5"/>
          <p:cNvSpPr/>
          <p:nvPr/>
        </p:nvSpPr>
        <p:spPr>
          <a:xfrm>
            <a:off x="5394960" y="4041648"/>
            <a:ext cx="64008" cy="777240"/>
          </a:xfrm>
          <a:prstGeom prst="rect">
            <a:avLst/>
          </a:prstGeom>
          <a:solidFill>
            <a:srgbClr val="FF85BB"/>
          </a:solidFill>
          <a:ln w="12700">
            <a:solidFill>
              <a:srgbClr val="FF85BB"/>
            </a:solidFill>
            <a:prstDash val="solid"/>
          </a:ln>
        </p:spPr>
        <p:txBody>
          <a:bodyPr/>
          <a:lstStyle/>
          <a:p>
            <a:endParaRPr lang="zh-TW" altLang="en-US"/>
          </a:p>
        </p:txBody>
      </p:sp>
      <p:sp>
        <p:nvSpPr>
          <p:cNvPr id="10" name="Text 6"/>
          <p:cNvSpPr/>
          <p:nvPr/>
        </p:nvSpPr>
        <p:spPr>
          <a:xfrm>
            <a:off x="5550408" y="3995928"/>
            <a:ext cx="3246120" cy="256032"/>
          </a:xfrm>
          <a:prstGeom prst="rect">
            <a:avLst/>
          </a:prstGeom>
          <a:noFill/>
          <a:ln/>
        </p:spPr>
        <p:txBody>
          <a:bodyPr wrap="square" rtlCol="0" anchor="ctr"/>
          <a:lstStyle/>
          <a:p>
            <a:pPr marL="0" indent="0">
              <a:buNone/>
            </a:pPr>
            <a:r>
              <a:rPr lang="en-US" sz="1050" b="1" dirty="0">
                <a:solidFill>
                  <a:srgbClr val="021A54"/>
                </a:solidFill>
                <a:latin typeface="jf open 粉圓 2.1" pitchFamily="34" charset="0"/>
                <a:ea typeface="jf open 粉圓 2.1" pitchFamily="34" charset="-122"/>
                <a:cs typeface="jf open 粉圓 2.1" pitchFamily="34" charset="-120"/>
              </a:rPr>
              <a:t>為何選擇 mean_watch_time 為主要目標？</a:t>
            </a:r>
            <a:endParaRPr lang="en-US" sz="1050" dirty="0"/>
          </a:p>
        </p:txBody>
      </p:sp>
      <p:sp>
        <p:nvSpPr>
          <p:cNvPr id="11" name="Text 7"/>
          <p:cNvSpPr/>
          <p:nvPr/>
        </p:nvSpPr>
        <p:spPr>
          <a:xfrm>
            <a:off x="5550408" y="4251960"/>
            <a:ext cx="3246120" cy="502920"/>
          </a:xfrm>
          <a:prstGeom prst="rect">
            <a:avLst/>
          </a:prstGeom>
          <a:noFill/>
          <a:ln/>
        </p:spPr>
        <p:txBody>
          <a:bodyPr wrap="square" rtlCol="0" anchor="t"/>
          <a:lstStyle/>
          <a:p>
            <a:pPr marL="0" indent="0">
              <a:buNone/>
            </a:pPr>
            <a:r>
              <a:rPr lang="en-US" sz="1000" dirty="0">
                <a:solidFill>
                  <a:srgbClr val="021A54"/>
                </a:solidFill>
                <a:latin typeface="jf open 粉圓 2.1" pitchFamily="34" charset="0"/>
                <a:ea typeface="jf open 粉圓 2.1" pitchFamily="34" charset="-122"/>
                <a:cs typeface="jf open 粉圓 2.1" pitchFamily="34" charset="-120"/>
              </a:rPr>
              <a:t>zero 比例僅 0.2%，直接反映觀眾對影片內容的吸引力，是最適合以內容特徵預測的目標。</a:t>
            </a:r>
            <a:endParaRPr lang="en-US" sz="1000" dirty="0"/>
          </a:p>
        </p:txBody>
      </p:sp>
      <p:sp>
        <p:nvSpPr>
          <p:cNvPr id="12" name="TextBox 11"/>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[9] Shang et al., WWW 2025 — </a:t>
            </a:r>
            <a:r>
              <a:rPr sz="750" dirty="0" err="1">
                <a:solidFill>
                  <a:srgbClr val="8A9AB8"/>
                </a:solidFill>
                <a:latin typeface="jf open 粉圓 2.1"/>
              </a:rPr>
              <a:t>ShortVideo</a:t>
            </a:r>
            <a:r>
              <a:rPr sz="750" dirty="0">
                <a:solidFill>
                  <a:srgbClr val="8A9AB8"/>
                </a:solidFill>
                <a:latin typeface="jf open 粉圓 2.1"/>
              </a:rPr>
              <a:t>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方法設計：以影片為中心的異質圖</a:t>
            </a:r>
            <a:endParaRPr lang="en-US" sz="2100" dirty="0"/>
          </a:p>
        </p:txBody>
      </p:sp>
      <p:sp>
        <p:nvSpPr>
          <p:cNvPr id="4" name="Shape 2"/>
          <p:cNvSpPr>
            <a:spLocks noGrp="1" noRot="1" noMove="1" noResize="1" noEditPoints="1" noAdjustHandles="1" noChangeArrowheads="1" noChangeShapeType="1"/>
          </p:cNvSpPr>
          <p:nvPr/>
        </p:nvSpPr>
        <p:spPr>
          <a:xfrm>
            <a:off x="320040" y="777240"/>
            <a:ext cx="4160520" cy="4187952"/>
          </a:xfrm>
          <a:prstGeom prst="roundRect">
            <a:avLst>
              <a:gd name="adj" fmla="val 219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en" altLang="zh-TW" sz="800" dirty="0"/>
          </a:p>
        </p:txBody>
      </p:sp>
      <p:sp>
        <p:nvSpPr>
          <p:cNvPr id="5" name="Text 3"/>
          <p:cNvSpPr/>
          <p:nvPr/>
        </p:nvSpPr>
        <p:spPr>
          <a:xfrm>
            <a:off x="457200" y="841248"/>
            <a:ext cx="3840480" cy="256032"/>
          </a:xfrm>
          <a:prstGeom prst="rect">
            <a:avLst/>
          </a:prstGeom>
          <a:noFill/>
          <a:ln/>
        </p:spPr>
        <p:txBody>
          <a:bodyPr wrap="square" rtlCol="0" anchor="ctr"/>
          <a:lstStyle/>
          <a:p>
            <a:pPr marL="0" indent="0" algn="ctr">
              <a:buNone/>
            </a:pPr>
            <a:r>
              <a:rPr lang="en-US" sz="1600" b="1" dirty="0">
                <a:solidFill>
                  <a:srgbClr val="FF85BB"/>
                </a:solidFill>
                <a:latin typeface="jf open 粉圓 2.1" pitchFamily="34" charset="0"/>
                <a:ea typeface="jf open 粉圓 2.1" pitchFamily="34" charset="-122"/>
                <a:cs typeface="jf open 粉圓 2.1" pitchFamily="34" charset="-120"/>
              </a:rPr>
              <a:t>異質圖示意</a:t>
            </a:r>
            <a:endParaRPr lang="en-US" sz="1600" dirty="0"/>
          </a:p>
        </p:txBody>
      </p:sp>
      <p:grpSp>
        <p:nvGrpSpPr>
          <p:cNvPr id="33" name="群組 32">
            <a:extLst>
              <a:ext uri="{FF2B5EF4-FFF2-40B4-BE49-F238E27FC236}">
                <a16:creationId xmlns:a16="http://schemas.microsoft.com/office/drawing/2014/main" id="{52993488-3481-D804-4053-74041F7221F4}"/>
              </a:ext>
            </a:extLst>
          </p:cNvPr>
          <p:cNvGrpSpPr/>
          <p:nvPr/>
        </p:nvGrpSpPr>
        <p:grpSpPr>
          <a:xfrm>
            <a:off x="1594800" y="1881577"/>
            <a:ext cx="960120" cy="640080"/>
            <a:chOff x="1508760" y="1965960"/>
            <a:chExt cx="960120" cy="640080"/>
          </a:xfrm>
        </p:grpSpPr>
        <p:sp>
          <p:nvSpPr>
            <p:cNvPr id="6" name="Shape 4"/>
            <p:cNvSpPr/>
            <p:nvPr/>
          </p:nvSpPr>
          <p:spPr>
            <a:xfrm>
              <a:off x="1508760" y="1965960"/>
              <a:ext cx="960120" cy="640080"/>
            </a:xfrm>
            <a:prstGeom prst="ellipse">
              <a:avLst/>
            </a:prstGeom>
            <a:solidFill>
              <a:srgbClr val="021A54"/>
            </a:solidFill>
            <a:ln w="12700">
              <a:solidFill>
                <a:srgbClr val="021A54"/>
              </a:solidFill>
              <a:prstDash val="solid"/>
            </a:ln>
          </p:spPr>
          <p:txBody>
            <a:bodyPr/>
            <a:lstStyle/>
            <a:p>
              <a:endParaRPr lang="zh-TW" altLang="en-US"/>
            </a:p>
          </p:txBody>
        </p:sp>
        <p:sp>
          <p:nvSpPr>
            <p:cNvPr id="7" name="Text 5"/>
            <p:cNvSpPr/>
            <p:nvPr/>
          </p:nvSpPr>
          <p:spPr>
            <a:xfrm>
              <a:off x="1508760" y="1965960"/>
              <a:ext cx="960120"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影片 v₁</a:t>
              </a:r>
              <a:endParaRPr lang="en-US" sz="950" dirty="0"/>
            </a:p>
          </p:txBody>
        </p:sp>
      </p:grpSp>
      <p:sp>
        <p:nvSpPr>
          <p:cNvPr id="8" name="Shape 6"/>
          <p:cNvSpPr/>
          <p:nvPr/>
        </p:nvSpPr>
        <p:spPr>
          <a:xfrm>
            <a:off x="457200" y="2514600"/>
            <a:ext cx="1005840" cy="640080"/>
          </a:xfrm>
          <a:prstGeom prst="ellipse">
            <a:avLst/>
          </a:prstGeom>
          <a:solidFill>
            <a:srgbClr val="FF85BB"/>
          </a:solidFill>
          <a:ln w="25400">
            <a:solidFill>
              <a:srgbClr val="F5F5F5"/>
            </a:solidFill>
            <a:prstDash val="solid"/>
          </a:ln>
        </p:spPr>
        <p:txBody>
          <a:bodyPr/>
          <a:lstStyle/>
          <a:p>
            <a:endParaRPr lang="zh-TW" altLang="en-US"/>
          </a:p>
        </p:txBody>
      </p:sp>
      <p:sp>
        <p:nvSpPr>
          <p:cNvPr id="9" name="Text 7"/>
          <p:cNvSpPr/>
          <p:nvPr/>
        </p:nvSpPr>
        <p:spPr>
          <a:xfrm>
            <a:off x="457200" y="2514600"/>
            <a:ext cx="1005840" cy="640080"/>
          </a:xfrm>
          <a:prstGeom prst="rect">
            <a:avLst/>
          </a:prstGeom>
          <a:noFill/>
          <a:ln/>
        </p:spPr>
        <p:txBody>
          <a:bodyPr wrap="square" lIns="0" tIns="0" rIns="0" bIns="0" rtlCol="0" anchor="ctr"/>
          <a:lstStyle/>
          <a:p>
            <a:pPr marL="0" indent="0" algn="ctr">
              <a:buNone/>
            </a:pPr>
            <a:r>
              <a:rPr lang="en-US" sz="800" b="1" dirty="0">
                <a:solidFill>
                  <a:srgbClr val="FFFFFF"/>
                </a:solidFill>
                <a:latin typeface="jf open 粉圓 2.1" pitchFamily="34" charset="0"/>
                <a:ea typeface="jf open 粉圓 2.1" pitchFamily="34" charset="-122"/>
                <a:cs typeface="jf open 粉圓 2.1" pitchFamily="34" charset="-120"/>
              </a:rPr>
              <a:t>新影片 v₂</a:t>
            </a:r>
            <a:endParaRPr lang="en-US" sz="800" dirty="0"/>
          </a:p>
          <a:p>
            <a:pPr marL="0" indent="0" algn="ctr">
              <a:buNone/>
            </a:pPr>
            <a:r>
              <a:rPr lang="en-US" sz="800" b="1" dirty="0">
                <a:solidFill>
                  <a:srgbClr val="FFFFFF"/>
                </a:solidFill>
                <a:latin typeface="jf open 粉圓 2.1" pitchFamily="34" charset="0"/>
                <a:ea typeface="jf open 粉圓 2.1" pitchFamily="34" charset="-122"/>
                <a:cs typeface="jf open 粉圓 2.1" pitchFamily="34" charset="-120"/>
              </a:rPr>
              <a:t>（無歷史）</a:t>
            </a:r>
            <a:endParaRPr lang="en-US" sz="800" dirty="0"/>
          </a:p>
        </p:txBody>
      </p:sp>
      <p:grpSp>
        <p:nvGrpSpPr>
          <p:cNvPr id="34" name="群組 33">
            <a:extLst>
              <a:ext uri="{FF2B5EF4-FFF2-40B4-BE49-F238E27FC236}">
                <a16:creationId xmlns:a16="http://schemas.microsoft.com/office/drawing/2014/main" id="{14B035D7-85BB-CD30-3AD5-915561541B28}"/>
              </a:ext>
            </a:extLst>
          </p:cNvPr>
          <p:cNvGrpSpPr/>
          <p:nvPr/>
        </p:nvGrpSpPr>
        <p:grpSpPr>
          <a:xfrm>
            <a:off x="1594800" y="3186685"/>
            <a:ext cx="960120" cy="594360"/>
            <a:chOff x="1508760" y="3246120"/>
            <a:chExt cx="960120" cy="594360"/>
          </a:xfrm>
        </p:grpSpPr>
        <p:sp>
          <p:nvSpPr>
            <p:cNvPr id="10" name="Shape 8"/>
            <p:cNvSpPr/>
            <p:nvPr/>
          </p:nvSpPr>
          <p:spPr>
            <a:xfrm>
              <a:off x="1508760" y="3246120"/>
              <a:ext cx="960120" cy="594360"/>
            </a:xfrm>
            <a:prstGeom prst="ellipse">
              <a:avLst/>
            </a:prstGeom>
            <a:solidFill>
              <a:srgbClr val="021A54"/>
            </a:solidFill>
            <a:ln w="12700">
              <a:solidFill>
                <a:srgbClr val="021A54"/>
              </a:solidFill>
              <a:prstDash val="solid"/>
            </a:ln>
          </p:spPr>
          <p:txBody>
            <a:bodyPr/>
            <a:lstStyle/>
            <a:p>
              <a:endParaRPr lang="zh-TW" altLang="en-US"/>
            </a:p>
          </p:txBody>
        </p:sp>
        <p:sp>
          <p:nvSpPr>
            <p:cNvPr id="11" name="Text 9"/>
            <p:cNvSpPr/>
            <p:nvPr/>
          </p:nvSpPr>
          <p:spPr>
            <a:xfrm>
              <a:off x="1508760" y="3246120"/>
              <a:ext cx="96012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影片 v₃</a:t>
              </a:r>
              <a:endParaRPr lang="en-US" sz="950" dirty="0"/>
            </a:p>
          </p:txBody>
        </p:sp>
      </p:grpSp>
      <p:grpSp>
        <p:nvGrpSpPr>
          <p:cNvPr id="32" name="群組 31">
            <a:extLst>
              <a:ext uri="{FF2B5EF4-FFF2-40B4-BE49-F238E27FC236}">
                <a16:creationId xmlns:a16="http://schemas.microsoft.com/office/drawing/2014/main" id="{686BF258-C0D6-D4F6-3591-846CB1988DE0}"/>
              </a:ext>
            </a:extLst>
          </p:cNvPr>
          <p:cNvGrpSpPr/>
          <p:nvPr/>
        </p:nvGrpSpPr>
        <p:grpSpPr>
          <a:xfrm>
            <a:off x="2871216" y="1294128"/>
            <a:ext cx="1188720" cy="548640"/>
            <a:chOff x="2926080" y="1481328"/>
            <a:chExt cx="1188720" cy="548640"/>
          </a:xfrm>
        </p:grpSpPr>
        <p:sp>
          <p:nvSpPr>
            <p:cNvPr id="12" name="Shape 10"/>
            <p:cNvSpPr>
              <a:spLocks noGrp="1" noRot="1" noMove="1" noResize="1" noEditPoints="1" noAdjustHandles="1" noChangeArrowheads="1" noChangeShapeType="1"/>
            </p:cNvSpPr>
            <p:nvPr/>
          </p:nvSpPr>
          <p:spPr>
            <a:xfrm>
              <a:off x="2926080" y="1481328"/>
              <a:ext cx="1188720" cy="548640"/>
            </a:xfrm>
            <a:prstGeom prst="roundRect">
              <a:avLst>
                <a:gd name="adj" fmla="val 13333"/>
              </a:avLst>
            </a:prstGeom>
            <a:solidFill>
              <a:srgbClr val="021A54"/>
            </a:solidFill>
            <a:ln w="12700">
              <a:solidFill>
                <a:srgbClr val="F5F5F5"/>
              </a:solidFill>
              <a:prstDash val="solid"/>
            </a:ln>
          </p:spPr>
          <p:txBody>
            <a:bodyPr/>
            <a:lstStyle/>
            <a:p>
              <a:endParaRPr lang="zh-TW" altLang="en-US"/>
            </a:p>
          </p:txBody>
        </p:sp>
        <p:sp>
          <p:nvSpPr>
            <p:cNvPr id="13" name="Text 11"/>
            <p:cNvSpPr/>
            <p:nvPr/>
          </p:nvSpPr>
          <p:spPr>
            <a:xfrm>
              <a:off x="2926080" y="1481328"/>
              <a:ext cx="1188720"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作者 a₁</a:t>
              </a:r>
              <a:endParaRPr lang="en-US" sz="950" dirty="0"/>
            </a:p>
          </p:txBody>
        </p:sp>
      </p:grpSp>
      <p:grpSp>
        <p:nvGrpSpPr>
          <p:cNvPr id="31" name="群組 30">
            <a:extLst>
              <a:ext uri="{FF2B5EF4-FFF2-40B4-BE49-F238E27FC236}">
                <a16:creationId xmlns:a16="http://schemas.microsoft.com/office/drawing/2014/main" id="{4532F6AC-1542-5401-01B4-9D05384DAEC7}"/>
              </a:ext>
            </a:extLst>
          </p:cNvPr>
          <p:cNvGrpSpPr/>
          <p:nvPr/>
        </p:nvGrpSpPr>
        <p:grpSpPr>
          <a:xfrm>
            <a:off x="2857500" y="2564893"/>
            <a:ext cx="1188720" cy="548640"/>
            <a:chOff x="2926080" y="2359152"/>
            <a:chExt cx="1188720" cy="548640"/>
          </a:xfrm>
        </p:grpSpPr>
        <p:sp>
          <p:nvSpPr>
            <p:cNvPr id="14" name="Shape 12"/>
            <p:cNvSpPr>
              <a:spLocks noGrp="1" noRot="1" noMove="1" noResize="1" noEditPoints="1" noAdjustHandles="1" noChangeArrowheads="1" noChangeShapeType="1"/>
            </p:cNvSpPr>
            <p:nvPr/>
          </p:nvSpPr>
          <p:spPr>
            <a:xfrm>
              <a:off x="2926080" y="2359152"/>
              <a:ext cx="1188720" cy="548640"/>
            </a:xfrm>
            <a:prstGeom prst="roundRect">
              <a:avLst>
                <a:gd name="adj" fmla="val 13333"/>
              </a:avLst>
            </a:prstGeom>
            <a:solidFill>
              <a:srgbClr val="021A54"/>
            </a:solidFill>
            <a:ln w="12700">
              <a:solidFill>
                <a:srgbClr val="F5F5F5"/>
              </a:solidFill>
              <a:prstDash val="solid"/>
            </a:ln>
          </p:spPr>
          <p:txBody>
            <a:bodyPr/>
            <a:lstStyle/>
            <a:p>
              <a:endParaRPr lang="zh-TW" altLang="en-US"/>
            </a:p>
          </p:txBody>
        </p:sp>
        <p:sp>
          <p:nvSpPr>
            <p:cNvPr id="15" name="Text 13"/>
            <p:cNvSpPr/>
            <p:nvPr/>
          </p:nvSpPr>
          <p:spPr>
            <a:xfrm>
              <a:off x="2926080" y="2359152"/>
              <a:ext cx="1188720" cy="548640"/>
            </a:xfrm>
            <a:prstGeom prst="rect">
              <a:avLst/>
            </a:prstGeom>
            <a:noFill/>
            <a:ln/>
          </p:spPr>
          <p:txBody>
            <a:bodyPr wrap="square" lIns="0" tIns="0" rIns="0" bIns="0" rtlCol="0" anchor="ctr"/>
            <a:lstStyle/>
            <a:p>
              <a:pPr algn="ctr"/>
              <a:r>
                <a:rPr lang="en-US" altLang="zh-TW" sz="950" b="1" dirty="0" err="1">
                  <a:solidFill>
                    <a:srgbClr val="FFFFFF"/>
                  </a:solidFill>
                  <a:latin typeface="jf open 粉圓 2.1" pitchFamily="34" charset="0"/>
                  <a:ea typeface="jf open 粉圓 2.1" pitchFamily="34" charset="-122"/>
                  <a:cs typeface="jf open 粉圓 2.1" pitchFamily="34" charset="-120"/>
                </a:rPr>
                <a:t>作者</a:t>
              </a:r>
              <a:r>
                <a:rPr lang="en-US" sz="950" b="1" dirty="0" err="1">
                  <a:solidFill>
                    <a:srgbClr val="FFFFFF"/>
                  </a:solidFill>
                  <a:latin typeface="jf open 粉圓 2.1" pitchFamily="34" charset="0"/>
                  <a:ea typeface="jf open 粉圓 2.1" pitchFamily="34" charset="-122"/>
                  <a:cs typeface="jf open 粉圓 2.1" pitchFamily="34" charset="-120"/>
                </a:rPr>
                <a:t>a</a:t>
              </a:r>
              <a:r>
                <a:rPr lang="en-US" sz="950" b="1" dirty="0">
                  <a:solidFill>
                    <a:srgbClr val="FFFFFF"/>
                  </a:solidFill>
                  <a:latin typeface="jf open 粉圓 2.1" pitchFamily="34" charset="0"/>
                  <a:ea typeface="jf open 粉圓 2.1" pitchFamily="34" charset="-122"/>
                  <a:cs typeface="jf open 粉圓 2.1" pitchFamily="34" charset="-120"/>
                </a:rPr>
                <a:t>₂</a:t>
              </a:r>
              <a:endParaRPr lang="en-US" sz="950" dirty="0"/>
            </a:p>
          </p:txBody>
        </p:sp>
      </p:grpSp>
      <p:grpSp>
        <p:nvGrpSpPr>
          <p:cNvPr id="30" name="群組 29">
            <a:extLst>
              <a:ext uri="{FF2B5EF4-FFF2-40B4-BE49-F238E27FC236}">
                <a16:creationId xmlns:a16="http://schemas.microsoft.com/office/drawing/2014/main" id="{8BCE7B39-15F8-9FE1-3362-5E81147DA667}"/>
              </a:ext>
            </a:extLst>
          </p:cNvPr>
          <p:cNvGrpSpPr/>
          <p:nvPr/>
        </p:nvGrpSpPr>
        <p:grpSpPr>
          <a:xfrm>
            <a:off x="2857500" y="3844654"/>
            <a:ext cx="1234440" cy="548640"/>
            <a:chOff x="2857500" y="3844654"/>
            <a:chExt cx="1234440" cy="548640"/>
          </a:xfrm>
        </p:grpSpPr>
        <p:sp>
          <p:nvSpPr>
            <p:cNvPr id="16" name="Shape 14"/>
            <p:cNvSpPr>
              <a:spLocks noGrp="1" noRot="1" noMove="1" noResize="1" noEditPoints="1" noAdjustHandles="1" noChangeArrowheads="1" noChangeShapeType="1"/>
            </p:cNvSpPr>
            <p:nvPr/>
          </p:nvSpPr>
          <p:spPr>
            <a:xfrm>
              <a:off x="2857500" y="3844654"/>
              <a:ext cx="1234440" cy="548640"/>
            </a:xfrm>
            <a:prstGeom prst="roundRect">
              <a:avLst>
                <a:gd name="adj" fmla="val 13333"/>
              </a:avLst>
            </a:prstGeom>
            <a:solidFill>
              <a:srgbClr val="FF85BB"/>
            </a:solidFill>
            <a:ln w="12700">
              <a:solidFill>
                <a:srgbClr val="F5F5F5"/>
              </a:solidFill>
              <a:prstDash val="solid"/>
            </a:ln>
          </p:spPr>
          <p:txBody>
            <a:bodyPr/>
            <a:lstStyle/>
            <a:p>
              <a:endParaRPr lang="zh-TW" altLang="en-US"/>
            </a:p>
          </p:txBody>
        </p:sp>
        <p:sp>
          <p:nvSpPr>
            <p:cNvPr id="17" name="Text 15"/>
            <p:cNvSpPr/>
            <p:nvPr/>
          </p:nvSpPr>
          <p:spPr>
            <a:xfrm>
              <a:off x="2857500" y="3844654"/>
              <a:ext cx="1234440" cy="548640"/>
            </a:xfrm>
            <a:prstGeom prst="rect">
              <a:avLst/>
            </a:prstGeom>
            <a:noFill/>
            <a:ln/>
          </p:spPr>
          <p:txBody>
            <a:bodyPr wrap="square" lIns="0" tIns="0" rIns="0" bIns="0" rtlCol="0" anchor="ct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分類 c₁</a:t>
              </a:r>
              <a:endParaRPr lang="en-US" sz="950" dirty="0"/>
            </a:p>
          </p:txBody>
        </p:sp>
      </p:grpSp>
      <p:sp>
        <p:nvSpPr>
          <p:cNvPr id="18" name="Text 16"/>
          <p:cNvSpPr/>
          <p:nvPr/>
        </p:nvSpPr>
        <p:spPr>
          <a:xfrm>
            <a:off x="320040" y="2042112"/>
            <a:ext cx="1600200" cy="475488"/>
          </a:xfrm>
          <a:prstGeom prst="rect">
            <a:avLst/>
          </a:prstGeom>
          <a:noFill/>
          <a:ln/>
        </p:spPr>
        <p:txBody>
          <a:bodyPr wrap="square" rtlCol="0" anchor="ctr"/>
          <a:lstStyle/>
          <a:p>
            <a:pPr marL="0" indent="0" algn="ctr">
              <a:buNone/>
            </a:pPr>
            <a:r>
              <a:rPr lang="en-US" sz="750" i="1" dirty="0" err="1">
                <a:solidFill>
                  <a:srgbClr val="4F6082"/>
                </a:solidFill>
                <a:latin typeface="jf open 粉圓 2.1" pitchFamily="34" charset="0"/>
                <a:ea typeface="jf open 粉圓 2.1" pitchFamily="34" charset="-122"/>
                <a:cs typeface="jf open 粉圓 2.1" pitchFamily="34" charset="-120"/>
              </a:rPr>
              <a:t>similar_to</a:t>
            </a:r>
            <a:endParaRPr lang="en-US" sz="750" dirty="0"/>
          </a:p>
          <a:p>
            <a:pPr marL="0" indent="0" algn="ctr">
              <a:buNone/>
            </a:pPr>
            <a:r>
              <a:rPr lang="en-US" sz="750" i="1" dirty="0">
                <a:solidFill>
                  <a:srgbClr val="4F6082"/>
                </a:solidFill>
                <a:latin typeface="jf open 粉圓 2.1" pitchFamily="34" charset="0"/>
                <a:ea typeface="jf open 粉圓 2.1" pitchFamily="34" charset="-122"/>
                <a:cs typeface="jf open 粉圓 2.1" pitchFamily="34" charset="-120"/>
              </a:rPr>
              <a:t>(cosine kNN)</a:t>
            </a:r>
            <a:endParaRPr lang="en-US" sz="750" dirty="0"/>
          </a:p>
        </p:txBody>
      </p:sp>
      <p:sp>
        <p:nvSpPr>
          <p:cNvPr id="19" name="Text 17"/>
          <p:cNvSpPr/>
          <p:nvPr/>
        </p:nvSpPr>
        <p:spPr>
          <a:xfrm>
            <a:off x="2103120" y="1512477"/>
            <a:ext cx="777240" cy="256032"/>
          </a:xfrm>
          <a:prstGeom prst="rect">
            <a:avLst/>
          </a:prstGeom>
          <a:noFill/>
          <a:ln/>
        </p:spPr>
        <p:txBody>
          <a:bodyPr wrap="square" rtlCol="0" anchor="ctr"/>
          <a:lstStyle/>
          <a:p>
            <a:pPr algn="ctr"/>
            <a:r>
              <a:rPr lang="en-US" sz="750" i="1" dirty="0" err="1">
                <a:solidFill>
                  <a:srgbClr val="4F6082"/>
                </a:solidFill>
                <a:latin typeface="jf open 粉圓 2.1" pitchFamily="34" charset="0"/>
                <a:ea typeface="jf open 粉圓 2.1" pitchFamily="34" charset="-122"/>
              </a:rPr>
              <a:t>posted_by</a:t>
            </a:r>
            <a:endParaRPr lang="en-US" sz="750" i="1" dirty="0">
              <a:solidFill>
                <a:srgbClr val="4F6082"/>
              </a:solidFill>
              <a:latin typeface="jf open 粉圓 2.1" pitchFamily="34" charset="0"/>
              <a:ea typeface="jf open 粉圓 2.1" pitchFamily="34" charset="-122"/>
            </a:endParaRPr>
          </a:p>
        </p:txBody>
      </p:sp>
      <p:sp>
        <p:nvSpPr>
          <p:cNvPr id="20" name="Text 18"/>
          <p:cNvSpPr/>
          <p:nvPr/>
        </p:nvSpPr>
        <p:spPr>
          <a:xfrm>
            <a:off x="2043684" y="3781124"/>
            <a:ext cx="896112" cy="256032"/>
          </a:xfrm>
          <a:prstGeom prst="rect">
            <a:avLst/>
          </a:prstGeom>
          <a:noFill/>
          <a:ln/>
        </p:spPr>
        <p:txBody>
          <a:bodyPr wrap="square" rtlCol="0" anchor="ctr"/>
          <a:lstStyle/>
          <a:p>
            <a:r>
              <a:rPr lang="en-US" sz="750" i="1" dirty="0" err="1">
                <a:solidFill>
                  <a:srgbClr val="FF85BB"/>
                </a:solidFill>
                <a:latin typeface="jf open 粉圓 2.1" pitchFamily="34" charset="0"/>
                <a:ea typeface="jf open 粉圓 2.1" pitchFamily="34" charset="-122"/>
              </a:rPr>
              <a:t>belongs_to</a:t>
            </a:r>
            <a:endParaRPr lang="en-US" sz="750" i="1" dirty="0">
              <a:solidFill>
                <a:srgbClr val="FF85BB"/>
              </a:solidFill>
              <a:latin typeface="jf open 粉圓 2.1" pitchFamily="34" charset="0"/>
              <a:ea typeface="jf open 粉圓 2.1" pitchFamily="34" charset="-122"/>
            </a:endParaRPr>
          </a:p>
        </p:txBody>
      </p:sp>
      <p:sp>
        <p:nvSpPr>
          <p:cNvPr id="21" name="Text 19"/>
          <p:cNvSpPr/>
          <p:nvPr/>
        </p:nvSpPr>
        <p:spPr>
          <a:xfrm>
            <a:off x="347472" y="4681728"/>
            <a:ext cx="4114800" cy="274320"/>
          </a:xfrm>
          <a:prstGeom prst="rect">
            <a:avLst/>
          </a:prstGeom>
          <a:noFill/>
          <a:ln/>
        </p:spPr>
        <p:txBody>
          <a:bodyPr wrap="square" rtlCol="0" anchor="ctr"/>
          <a:lstStyle/>
          <a:p>
            <a:pPr marL="0" indent="0">
              <a:buNone/>
            </a:pPr>
            <a:r>
              <a:rPr lang="en-US" sz="850" i="1" dirty="0">
                <a:solidFill>
                  <a:srgbClr val="4F6082"/>
                </a:solidFill>
                <a:latin typeface="jf open 粉圓 2.1" pitchFamily="34" charset="0"/>
                <a:ea typeface="jf open 粉圓 2.1" pitchFamily="34" charset="-122"/>
                <a:cs typeface="jf open 粉圓 2.1" pitchFamily="34" charset="-120"/>
              </a:rPr>
              <a:t>粉紅節點：無歷史資料的新影片仍可透過 cosine kNN 從視覺相似老影片借用訊號</a:t>
            </a:r>
            <a:endParaRPr lang="en-US" sz="850" dirty="0"/>
          </a:p>
        </p:txBody>
      </p:sp>
      <p:sp>
        <p:nvSpPr>
          <p:cNvPr id="22" name="Text 20"/>
          <p:cNvSpPr/>
          <p:nvPr/>
        </p:nvSpPr>
        <p:spPr>
          <a:xfrm>
            <a:off x="4663440" y="777240"/>
            <a:ext cx="4206240" cy="256032"/>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三種節點</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195432289"/>
              </p:ext>
            </p:extLst>
          </p:nvPr>
        </p:nvGraphicFramePr>
        <p:xfrm>
          <a:off x="4663440" y="1060704"/>
          <a:ext cx="4206240" cy="1513332"/>
        </p:xfrm>
        <a:graphic>
          <a:graphicData uri="http://schemas.openxmlformats.org/drawingml/2006/table">
            <a:tbl>
              <a:tblPr/>
              <a:tblGrid>
                <a:gridCol w="1044836">
                  <a:extLst>
                    <a:ext uri="{9D8B030D-6E8A-4147-A177-3AD203B41FA5}">
                      <a16:colId xmlns:a16="http://schemas.microsoft.com/office/drawing/2014/main" val="20000"/>
                    </a:ext>
                  </a:extLst>
                </a:gridCol>
                <a:gridCol w="611842">
                  <a:extLst>
                    <a:ext uri="{9D8B030D-6E8A-4147-A177-3AD203B41FA5}">
                      <a16:colId xmlns:a16="http://schemas.microsoft.com/office/drawing/2014/main" val="20001"/>
                    </a:ext>
                  </a:extLst>
                </a:gridCol>
                <a:gridCol w="658906">
                  <a:extLst>
                    <a:ext uri="{9D8B030D-6E8A-4147-A177-3AD203B41FA5}">
                      <a16:colId xmlns:a16="http://schemas.microsoft.com/office/drawing/2014/main" val="20002"/>
                    </a:ext>
                  </a:extLst>
                </a:gridCol>
                <a:gridCol w="1890656">
                  <a:extLst>
                    <a:ext uri="{9D8B030D-6E8A-4147-A177-3AD203B41FA5}">
                      <a16:colId xmlns:a16="http://schemas.microsoft.com/office/drawing/2014/main" val="20003"/>
                    </a:ext>
                  </a:extLst>
                </a:gridCol>
              </a:tblGrid>
              <a:tr h="370332">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節點類型</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數量</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維度</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特徵構成</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70332">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影片 (video)</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54,088</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819</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768 </a:t>
                      </a:r>
                      <a:r>
                        <a:rPr lang="en-US" sz="950" dirty="0" err="1">
                          <a:solidFill>
                            <a:srgbClr val="000000"/>
                          </a:solidFill>
                          <a:latin typeface="jf open 粉圓 2.1" pitchFamily="34" charset="0"/>
                          <a:ea typeface="jf open 粉圓 2.1" pitchFamily="34" charset="-122"/>
                          <a:cs typeface="jf open 粉圓 2.1" pitchFamily="34" charset="-120"/>
                        </a:rPr>
                        <a:t>ViT</a:t>
                      </a:r>
                      <a:r>
                        <a:rPr lang="en-US" sz="950" dirty="0">
                          <a:solidFill>
                            <a:srgbClr val="000000"/>
                          </a:solidFill>
                          <a:latin typeface="jf open 粉圓 2.1" pitchFamily="34" charset="0"/>
                          <a:ea typeface="jf open 粉圓 2.1" pitchFamily="34" charset="-122"/>
                          <a:cs typeface="jf open 粉圓 2.1" pitchFamily="34" charset="-120"/>
                        </a:rPr>
                        <a:t> </a:t>
                      </a:r>
                      <a:r>
                        <a:rPr lang="en-US" sz="950" dirty="0" err="1">
                          <a:solidFill>
                            <a:srgbClr val="000000"/>
                          </a:solidFill>
                          <a:latin typeface="jf open 粉圓 2.1" pitchFamily="34" charset="0"/>
                          <a:ea typeface="jf open 粉圓 2.1" pitchFamily="34" charset="-122"/>
                          <a:cs typeface="jf open 粉圓 2.1" pitchFamily="34" charset="-120"/>
                        </a:rPr>
                        <a:t>視覺</a:t>
                      </a:r>
                      <a:endParaRPr lang="en-US" sz="950" dirty="0">
                        <a:solidFill>
                          <a:srgbClr val="000000"/>
                        </a:solidFill>
                        <a:latin typeface="jf open 粉圓 2.1" pitchFamily="34" charset="0"/>
                        <a:ea typeface="jf open 粉圓 2.1" pitchFamily="34" charset="-122"/>
                        <a:cs typeface="jf open 粉圓 2.1" pitchFamily="34" charset="-120"/>
                      </a:endParaRPr>
                    </a:p>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+ 50 SBERT 文字 + 1 log時長</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332">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作者 (author)</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34,939</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log粉絲數 + </a:t>
                      </a:r>
                      <a:r>
                        <a:rPr lang="en-US" sz="950" dirty="0" err="1">
                          <a:solidFill>
                            <a:srgbClr val="000000"/>
                          </a:solidFill>
                          <a:latin typeface="jf open 粉圓 2.1" pitchFamily="34" charset="0"/>
                          <a:ea typeface="jf open 粉圓 2.1" pitchFamily="34" charset="-122"/>
                          <a:cs typeface="jf open 粉圓 2.1" pitchFamily="34" charset="-120"/>
                        </a:rPr>
                        <a:t>作品數</a:t>
                      </a:r>
                      <a:endParaRPr lang="en-US" sz="950" dirty="0">
                        <a:solidFill>
                          <a:srgbClr val="000000"/>
                        </a:solidFill>
                        <a:latin typeface="jf open 粉圓 2.1" pitchFamily="34" charset="0"/>
                        <a:ea typeface="jf open 粉圓 2.1" pitchFamily="34" charset="-122"/>
                        <a:cs typeface="jf open 粉圓 2.1" pitchFamily="34" charset="-120"/>
                      </a:endParaRPr>
                    </a:p>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+ 8 指標訓練集均值</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332">
                <a:tc>
                  <a:txBody>
                    <a:bodyPr/>
                    <a:lstStyle/>
                    <a:p>
                      <a:pPr marL="0" indent="0">
                        <a:buNone/>
                      </a:pPr>
                      <a:r>
                        <a:rPr lang="en-US" sz="950" b="1" dirty="0">
                          <a:solidFill>
                            <a:srgbClr val="FF85BB"/>
                          </a:solidFill>
                          <a:latin typeface="jf open 粉圓 2.1" pitchFamily="34" charset="0"/>
                          <a:ea typeface="jf open 粉圓 2.1" pitchFamily="34" charset="-122"/>
                          <a:cs typeface="jf open 粉圓 2.1" pitchFamily="34" charset="-120"/>
                        </a:rPr>
                        <a:t>分類 (category)</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51</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128</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可學習 Embedding，</a:t>
                      </a:r>
                    </a:p>
                    <a:p>
                      <a:pPr marL="0" indent="0">
                        <a:buNone/>
                      </a:pPr>
                      <a:r>
                        <a:rPr lang="en-US" sz="950" dirty="0" err="1">
                          <a:solidFill>
                            <a:srgbClr val="000000"/>
                          </a:solidFill>
                          <a:latin typeface="jf open 粉圓 2.1" pitchFamily="34" charset="0"/>
                          <a:ea typeface="jf open 粉圓 2.1" pitchFamily="34" charset="-122"/>
                          <a:cs typeface="jf open 粉圓 2.1" pitchFamily="34" charset="-120"/>
                        </a:rPr>
                        <a:t>隨訓練更新</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4" name="Text 21"/>
          <p:cNvSpPr/>
          <p:nvPr/>
        </p:nvSpPr>
        <p:spPr>
          <a:xfrm>
            <a:off x="4663440" y="2633472"/>
            <a:ext cx="4206240" cy="256032"/>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三種邊（總計 1,159,246 條）</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536838677"/>
              </p:ext>
            </p:extLst>
          </p:nvPr>
        </p:nvGraphicFramePr>
        <p:xfrm>
          <a:off x="4663440" y="2907792"/>
          <a:ext cx="4206240" cy="1409700"/>
        </p:xfrm>
        <a:graphic>
          <a:graphicData uri="http://schemas.openxmlformats.org/drawingml/2006/table">
            <a:tbl>
              <a:tblPr/>
              <a:tblGrid>
                <a:gridCol w="997772">
                  <a:extLst>
                    <a:ext uri="{9D8B030D-6E8A-4147-A177-3AD203B41FA5}">
                      <a16:colId xmlns:a16="http://schemas.microsoft.com/office/drawing/2014/main" val="20000"/>
                    </a:ext>
                  </a:extLst>
                </a:gridCol>
                <a:gridCol w="831028">
                  <a:extLst>
                    <a:ext uri="{9D8B030D-6E8A-4147-A177-3AD203B41FA5}">
                      <a16:colId xmlns:a16="http://schemas.microsoft.com/office/drawing/2014/main" val="20001"/>
                    </a:ext>
                  </a:extLst>
                </a:gridCol>
                <a:gridCol w="964154">
                  <a:extLst>
                    <a:ext uri="{9D8B030D-6E8A-4147-A177-3AD203B41FA5}">
                      <a16:colId xmlns:a16="http://schemas.microsoft.com/office/drawing/2014/main" val="20002"/>
                    </a:ext>
                  </a:extLst>
                </a:gridCol>
                <a:gridCol w="1413286">
                  <a:extLst>
                    <a:ext uri="{9D8B030D-6E8A-4147-A177-3AD203B41FA5}">
                      <a16:colId xmlns:a16="http://schemas.microsoft.com/office/drawing/2014/main" val="20003"/>
                    </a:ext>
                  </a:extLst>
                </a:gridCol>
              </a:tblGrid>
              <a:tr h="342900">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邊類型</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連接</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50" b="1" dirty="0">
                          <a:solidFill>
                            <a:srgbClr val="FFFFFF"/>
                          </a:solidFill>
                          <a:latin typeface="jf open 粉圓 2.1" pitchFamily="34" charset="0"/>
                          <a:ea typeface="jf open 粉圓 2.1" pitchFamily="34" charset="-122"/>
                          <a:cs typeface="jf open 粉圓 2.1" pitchFamily="34" charset="-120"/>
                        </a:rPr>
                        <a:t>邊數</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950" b="1" dirty="0">
                          <a:solidFill>
                            <a:srgbClr val="FFFFFF"/>
                          </a:solidFill>
                          <a:latin typeface="jf open 粉圓 2.1" pitchFamily="34" charset="0"/>
                          <a:ea typeface="jf open 粉圓 2.1" pitchFamily="34" charset="-122"/>
                          <a:cs typeface="jf open 粉圓 2.1" pitchFamily="34" charset="-120"/>
                        </a:rPr>
                        <a:t>建構方式</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42900">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similar_to ★</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影片↔影片</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942,894</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768 維視覺特徵 cosine kNN (k=10)</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590003"/>
                  </a:ext>
                </a:extLst>
              </a:tr>
              <a:tr h="342900">
                <a:tc>
                  <a:txBody>
                    <a:bodyPr/>
                    <a:lstStyle/>
                    <a:p>
                      <a:pPr marL="0" indent="0">
                        <a:buNone/>
                      </a:pPr>
                      <a:r>
                        <a:rPr lang="en-US" sz="950" b="1" dirty="0">
                          <a:solidFill>
                            <a:srgbClr val="021A54"/>
                          </a:solidFill>
                          <a:latin typeface="jf open 粉圓 2.1" pitchFamily="34" charset="0"/>
                          <a:ea typeface="jf open 粉圓 2.1" pitchFamily="34" charset="-122"/>
                          <a:cs typeface="jf open 粉圓 2.1" pitchFamily="34" charset="-120"/>
                        </a:rPr>
                        <a:t>posted_by</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影片→作者</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108,176</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從 author_id 欄讀取</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950" b="1" dirty="0">
                          <a:solidFill>
                            <a:srgbClr val="FF85BB"/>
                          </a:solidFill>
                          <a:latin typeface="jf open 粉圓 2.1" pitchFamily="34" charset="0"/>
                          <a:ea typeface="jf open 粉圓 2.1" pitchFamily="34" charset="-122"/>
                          <a:cs typeface="jf open 粉圓 2.1" pitchFamily="34" charset="-120"/>
                        </a:rPr>
                        <a:t>belongs_to</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影片→分類</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108,176</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950" dirty="0">
                          <a:solidFill>
                            <a:srgbClr val="000000"/>
                          </a:solidFill>
                          <a:latin typeface="jf open 粉圓 2.1" pitchFamily="34" charset="0"/>
                          <a:ea typeface="jf open 粉圓 2.1" pitchFamily="34" charset="-122"/>
                          <a:cs typeface="jf open 粉圓 2.1" pitchFamily="34" charset="-120"/>
                        </a:rPr>
                        <a:t>從 category_id 欄讀取</a:t>
                      </a:r>
                      <a:endParaRPr lang="en-US" sz="9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Shape 22"/>
          <p:cNvSpPr/>
          <p:nvPr/>
        </p:nvSpPr>
        <p:spPr>
          <a:xfrm>
            <a:off x="4663440" y="4389120"/>
            <a:ext cx="4206240" cy="566928"/>
          </a:xfrm>
          <a:prstGeom prst="roundRect">
            <a:avLst>
              <a:gd name="adj" fmla="val 16129"/>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27" name="Shape 23"/>
          <p:cNvSpPr/>
          <p:nvPr/>
        </p:nvSpPr>
        <p:spPr>
          <a:xfrm>
            <a:off x="4663440" y="4480560"/>
            <a:ext cx="64008" cy="475488"/>
          </a:xfrm>
          <a:prstGeom prst="rect">
            <a:avLst/>
          </a:prstGeom>
          <a:solidFill>
            <a:srgbClr val="FF85BB"/>
          </a:solidFill>
          <a:ln w="12700">
            <a:solidFill>
              <a:srgbClr val="FF85BB"/>
            </a:solidFill>
            <a:prstDash val="solid"/>
          </a:ln>
        </p:spPr>
        <p:txBody>
          <a:bodyPr/>
          <a:lstStyle/>
          <a:p>
            <a:endParaRPr lang="zh-TW" altLang="en-US"/>
          </a:p>
        </p:txBody>
      </p:sp>
      <p:sp>
        <p:nvSpPr>
          <p:cNvPr id="28" name="Text 24"/>
          <p:cNvSpPr/>
          <p:nvPr/>
        </p:nvSpPr>
        <p:spPr>
          <a:xfrm>
            <a:off x="4818888" y="4425696"/>
            <a:ext cx="3931920" cy="493776"/>
          </a:xfrm>
          <a:prstGeom prst="rect">
            <a:avLst/>
          </a:prstGeom>
          <a:noFill/>
          <a:ln/>
        </p:spPr>
        <p:txBody>
          <a:bodyPr wrap="square" rtlCol="0" anchor="ctr"/>
          <a:lstStyle/>
          <a:p>
            <a:pPr marL="0" indent="0">
              <a:buNone/>
            </a:pPr>
            <a:r>
              <a:rPr lang="en-US" sz="950" dirty="0">
                <a:solidFill>
                  <a:srgbClr val="021A54"/>
                </a:solidFill>
                <a:latin typeface="jf open 粉圓 2.1" pitchFamily="34" charset="0"/>
                <a:ea typeface="jf open 粉圓 2.1" pitchFamily="34" charset="-122"/>
                <a:cs typeface="jf open 粉圓 2.1" pitchFamily="34" charset="-120"/>
              </a:rPr>
              <a:t>similar_to </a:t>
            </a:r>
            <a:r>
              <a:rPr lang="en-US" sz="950" dirty="0" err="1">
                <a:solidFill>
                  <a:srgbClr val="021A54"/>
                </a:solidFill>
                <a:latin typeface="jf open 粉圓 2.1" pitchFamily="34" charset="0"/>
                <a:ea typeface="jf open 粉圓 2.1" pitchFamily="34" charset="-122"/>
                <a:cs typeface="jf open 粉圓 2.1" pitchFamily="34" charset="-120"/>
              </a:rPr>
              <a:t>邊的關鍵：建立此邊僅需視覺特徵，不需互動記錄</a:t>
            </a:r>
            <a:r>
              <a:rPr lang="en-US" sz="950" dirty="0">
                <a:solidFill>
                  <a:srgbClr val="021A54"/>
                </a:solidFill>
                <a:latin typeface="jf open 粉圓 2.1" pitchFamily="34" charset="0"/>
                <a:ea typeface="jf open 粉圓 2.1" pitchFamily="34" charset="-122"/>
                <a:cs typeface="jf open 粉圓 2.1" pitchFamily="34" charset="-120"/>
              </a:rPr>
              <a:t>，</a:t>
            </a:r>
          </a:p>
          <a:p>
            <a:pPr marL="0" indent="0">
              <a:buNone/>
            </a:pPr>
            <a:r>
              <a:rPr lang="en-US" sz="950" dirty="0" err="1">
                <a:solidFill>
                  <a:srgbClr val="021A54"/>
                </a:solidFill>
                <a:latin typeface="jf open 粉圓 2.1" pitchFamily="34" charset="0"/>
                <a:ea typeface="jf open 粉圓 2.1" pitchFamily="34" charset="-122"/>
                <a:cs typeface="jf open 粉圓 2.1" pitchFamily="34" charset="-120"/>
              </a:rPr>
              <a:t>新影片也能透過視覺相似性接入圖中，借用鄰近影片的歷史表現訊號</a:t>
            </a:r>
            <a:r>
              <a:rPr lang="en-US" sz="950" dirty="0">
                <a:solidFill>
                  <a:srgbClr val="021A54"/>
                </a:solidFill>
                <a:latin typeface="jf open 粉圓 2.1" pitchFamily="34" charset="0"/>
                <a:ea typeface="jf open 粉圓 2.1" pitchFamily="34" charset="-122"/>
                <a:cs typeface="jf open 粉圓 2.1" pitchFamily="34" charset="-120"/>
              </a:rPr>
              <a:t>。</a:t>
            </a:r>
            <a:endParaRPr lang="en-US" sz="950" dirty="0"/>
          </a:p>
        </p:txBody>
      </p:sp>
      <p:cxnSp>
        <p:nvCxnSpPr>
          <p:cNvPr id="36" name="直線箭頭接點 35">
            <a:extLst>
              <a:ext uri="{FF2B5EF4-FFF2-40B4-BE49-F238E27FC236}">
                <a16:creationId xmlns:a16="http://schemas.microsoft.com/office/drawing/2014/main" id="{B5521F0E-13CB-F1FA-5423-CF43F7AAF5E7}"/>
              </a:ext>
            </a:extLst>
          </p:cNvPr>
          <p:cNvCxnSpPr>
            <a:stCxn id="8" idx="7"/>
            <a:endCxn id="6" idx="3"/>
          </p:cNvCxnSpPr>
          <p:nvPr/>
        </p:nvCxnSpPr>
        <p:spPr>
          <a:xfrm flipV="1">
            <a:off x="1315738" y="2427919"/>
            <a:ext cx="419668" cy="180419"/>
          </a:xfrm>
          <a:prstGeom prst="straightConnector1">
            <a:avLst/>
          </a:prstGeom>
          <a:ln w="12700">
            <a:solidFill>
              <a:srgbClr val="021A54"/>
            </a:solidFill>
            <a:prstDash val="dash"/>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2204D940-4EB2-DF56-7E4D-FBAD9BD1399A}"/>
              </a:ext>
            </a:extLst>
          </p:cNvPr>
          <p:cNvCxnSpPr>
            <a:cxnSpLocks/>
            <a:stCxn id="8" idx="5"/>
            <a:endCxn id="10" idx="1"/>
          </p:cNvCxnSpPr>
          <p:nvPr/>
        </p:nvCxnSpPr>
        <p:spPr>
          <a:xfrm>
            <a:off x="1315738" y="3060942"/>
            <a:ext cx="419668" cy="212785"/>
          </a:xfrm>
          <a:prstGeom prst="straightConnector1">
            <a:avLst/>
          </a:prstGeom>
          <a:ln w="12700">
            <a:solidFill>
              <a:srgbClr val="021A54"/>
            </a:solidFill>
            <a:prstDash val="dash"/>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0" name="直線箭頭接點 39">
            <a:extLst>
              <a:ext uri="{FF2B5EF4-FFF2-40B4-BE49-F238E27FC236}">
                <a16:creationId xmlns:a16="http://schemas.microsoft.com/office/drawing/2014/main" id="{D1C9F04A-5670-AFEC-D5A3-7FCF384EABC5}"/>
              </a:ext>
            </a:extLst>
          </p:cNvPr>
          <p:cNvCxnSpPr>
            <a:cxnSpLocks/>
            <a:stCxn id="10" idx="0"/>
            <a:endCxn id="6" idx="4"/>
          </p:cNvCxnSpPr>
          <p:nvPr/>
        </p:nvCxnSpPr>
        <p:spPr>
          <a:xfrm flipV="1">
            <a:off x="2074860" y="2521657"/>
            <a:ext cx="0" cy="665028"/>
          </a:xfrm>
          <a:prstGeom prst="straightConnector1">
            <a:avLst/>
          </a:prstGeom>
          <a:ln w="12700">
            <a:solidFill>
              <a:srgbClr val="021A54"/>
            </a:solidFill>
            <a:prstDash val="sysDash"/>
            <a:headEnd type="arrow" w="sm" len="med"/>
            <a:tailEnd type="arrow" w="sm" len="med"/>
          </a:ln>
        </p:spPr>
        <p:style>
          <a:lnRef idx="1">
            <a:schemeClr val="accent1"/>
          </a:lnRef>
          <a:fillRef idx="0">
            <a:schemeClr val="accent1"/>
          </a:fillRef>
          <a:effectRef idx="0">
            <a:schemeClr val="accent1"/>
          </a:effectRef>
          <a:fontRef idx="minor">
            <a:schemeClr val="tx1"/>
          </a:fontRef>
        </p:style>
      </p:cxnSp>
      <p:sp>
        <p:nvSpPr>
          <p:cNvPr id="46" name="Text 16">
            <a:extLst>
              <a:ext uri="{FF2B5EF4-FFF2-40B4-BE49-F238E27FC236}">
                <a16:creationId xmlns:a16="http://schemas.microsoft.com/office/drawing/2014/main" id="{4F00F767-42A6-4A81-A556-5AFC4DA9E2E3}"/>
              </a:ext>
            </a:extLst>
          </p:cNvPr>
          <p:cNvSpPr/>
          <p:nvPr/>
        </p:nvSpPr>
        <p:spPr>
          <a:xfrm>
            <a:off x="1525572" y="2651683"/>
            <a:ext cx="1600200" cy="475488"/>
          </a:xfrm>
          <a:prstGeom prst="rect">
            <a:avLst/>
          </a:prstGeom>
          <a:noFill/>
          <a:ln/>
        </p:spPr>
        <p:txBody>
          <a:bodyPr wrap="square" rtlCol="0" anchor="ctr"/>
          <a:lstStyle/>
          <a:p>
            <a:pPr marL="0" indent="0" algn="ctr">
              <a:buNone/>
            </a:pPr>
            <a:r>
              <a:rPr lang="en-US" sz="750" i="1" dirty="0" err="1">
                <a:solidFill>
                  <a:srgbClr val="4F6082"/>
                </a:solidFill>
                <a:latin typeface="jf open 粉圓 2.1" pitchFamily="34" charset="0"/>
                <a:ea typeface="jf open 粉圓 2.1" pitchFamily="34" charset="-122"/>
                <a:cs typeface="jf open 粉圓 2.1" pitchFamily="34" charset="-120"/>
              </a:rPr>
              <a:t>similar_to</a:t>
            </a:r>
            <a:endParaRPr lang="en-US" sz="750" dirty="0"/>
          </a:p>
        </p:txBody>
      </p:sp>
      <p:cxnSp>
        <p:nvCxnSpPr>
          <p:cNvPr id="49" name="直線箭頭接點 48">
            <a:extLst>
              <a:ext uri="{FF2B5EF4-FFF2-40B4-BE49-F238E27FC236}">
                <a16:creationId xmlns:a16="http://schemas.microsoft.com/office/drawing/2014/main" id="{0C10A786-D697-35BC-91DE-375AA247F4C0}"/>
              </a:ext>
            </a:extLst>
          </p:cNvPr>
          <p:cNvCxnSpPr>
            <a:cxnSpLocks/>
            <a:stCxn id="6" idx="7"/>
            <a:endCxn id="12" idx="1"/>
          </p:cNvCxnSpPr>
          <p:nvPr/>
        </p:nvCxnSpPr>
        <p:spPr>
          <a:xfrm flipV="1">
            <a:off x="2414314" y="1568448"/>
            <a:ext cx="456902" cy="406867"/>
          </a:xfrm>
          <a:prstGeom prst="straightConnector1">
            <a:avLst/>
          </a:prstGeom>
          <a:ln w="12700">
            <a:solidFill>
              <a:srgbClr val="021A54"/>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52" name="直線箭頭接點 51">
            <a:extLst>
              <a:ext uri="{FF2B5EF4-FFF2-40B4-BE49-F238E27FC236}">
                <a16:creationId xmlns:a16="http://schemas.microsoft.com/office/drawing/2014/main" id="{C5D0578D-B9C9-7412-A4B4-223A90DCE472}"/>
              </a:ext>
            </a:extLst>
          </p:cNvPr>
          <p:cNvCxnSpPr>
            <a:cxnSpLocks/>
            <a:stCxn id="10" idx="6"/>
            <a:endCxn id="14" idx="1"/>
          </p:cNvCxnSpPr>
          <p:nvPr/>
        </p:nvCxnSpPr>
        <p:spPr>
          <a:xfrm flipV="1">
            <a:off x="2554920" y="2839213"/>
            <a:ext cx="302580" cy="644652"/>
          </a:xfrm>
          <a:prstGeom prst="straightConnector1">
            <a:avLst/>
          </a:prstGeom>
          <a:ln w="12700">
            <a:solidFill>
              <a:srgbClr val="021A54"/>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55" name="直線箭頭接點 54">
            <a:extLst>
              <a:ext uri="{FF2B5EF4-FFF2-40B4-BE49-F238E27FC236}">
                <a16:creationId xmlns:a16="http://schemas.microsoft.com/office/drawing/2014/main" id="{8BA4D3C5-2EED-3A2A-AACE-8AB70DCE7512}"/>
              </a:ext>
            </a:extLst>
          </p:cNvPr>
          <p:cNvCxnSpPr>
            <a:cxnSpLocks/>
            <a:stCxn id="10" idx="6"/>
            <a:endCxn id="16" idx="1"/>
          </p:cNvCxnSpPr>
          <p:nvPr/>
        </p:nvCxnSpPr>
        <p:spPr>
          <a:xfrm>
            <a:off x="2554920" y="3483865"/>
            <a:ext cx="302580" cy="635109"/>
          </a:xfrm>
          <a:prstGeom prst="straightConnector1">
            <a:avLst/>
          </a:prstGeom>
          <a:ln w="12700">
            <a:solidFill>
              <a:srgbClr val="FF85BB"/>
            </a:solidFill>
            <a:prstDash val="solid"/>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5571017A-18DA-7485-4929-975001B4E111}"/>
              </a:ext>
            </a:extLst>
          </p:cNvPr>
          <p:cNvSpPr txBox="1"/>
          <p:nvPr/>
        </p:nvSpPr>
        <p:spPr>
          <a:xfrm>
            <a:off x="321268" y="4947859"/>
            <a:ext cx="3429144" cy="207749"/>
          </a:xfrm>
          <a:prstGeom prst="rect">
            <a:avLst/>
          </a:prstGeom>
          <a:noFill/>
        </p:spPr>
        <p:txBody>
          <a:bodyPr wrap="none" rtlCol="0">
            <a:spAutoFit/>
          </a:bodyPr>
          <a:lstStyle/>
          <a:p>
            <a:r>
              <a:rPr lang="en" altLang="zh-TW" sz="750" dirty="0">
                <a:hlinkClick r:id="rId3"/>
              </a:rPr>
              <a:t>file:///Users/luoyi/Desktop/shortvideo_mmgcn_poc/docs/hetero_gnn_demo.html</a:t>
            </a:r>
            <a:endParaRPr lang="en" altLang="zh-TW"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HeteroGNN 模型架構：三段式設計</a:t>
            </a:r>
            <a:endParaRPr lang="en-US" sz="2100" dirty="0"/>
          </a:p>
        </p:txBody>
      </p:sp>
      <p:sp>
        <p:nvSpPr>
          <p:cNvPr id="4" name="Shape 2"/>
          <p:cNvSpPr/>
          <p:nvPr/>
        </p:nvSpPr>
        <p:spPr>
          <a:xfrm>
            <a:off x="320040" y="777240"/>
            <a:ext cx="1600200" cy="2468880"/>
          </a:xfrm>
          <a:prstGeom prst="roundRect">
            <a:avLst>
              <a:gd name="adj" fmla="val 5714"/>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5" name="Text 3"/>
          <p:cNvSpPr/>
          <p:nvPr/>
        </p:nvSpPr>
        <p:spPr>
          <a:xfrm>
            <a:off x="32004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輸入層</a:t>
            </a:r>
            <a:endParaRPr lang="en-US" sz="1050" dirty="0"/>
          </a:p>
        </p:txBody>
      </p:sp>
      <p:sp>
        <p:nvSpPr>
          <p:cNvPr id="6" name="Shape 4"/>
          <p:cNvSpPr/>
          <p:nvPr/>
        </p:nvSpPr>
        <p:spPr>
          <a:xfrm>
            <a:off x="484632" y="1517904"/>
            <a:ext cx="1271016" cy="0"/>
          </a:xfrm>
          <a:prstGeom prst="line">
            <a:avLst/>
          </a:prstGeom>
          <a:noFill/>
          <a:ln w="8890">
            <a:solidFill>
              <a:srgbClr val="FFCEE3"/>
            </a:solidFill>
            <a:prstDash val="solid"/>
          </a:ln>
        </p:spPr>
        <p:txBody>
          <a:bodyPr/>
          <a:lstStyle/>
          <a:p>
            <a:endParaRPr lang="zh-TW" altLang="en-US"/>
          </a:p>
        </p:txBody>
      </p:sp>
      <p:sp>
        <p:nvSpPr>
          <p:cNvPr id="7" name="Text 5"/>
          <p:cNvSpPr/>
          <p:nvPr/>
        </p:nvSpPr>
        <p:spPr>
          <a:xfrm>
            <a:off x="36576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video.x</a:t>
            </a:r>
            <a:r>
              <a:rPr lang="en-US" sz="800" dirty="0">
                <a:solidFill>
                  <a:srgbClr val="021A54"/>
                </a:solidFill>
                <a:latin typeface="jf open 粉圓 2.1" pitchFamily="34" charset="0"/>
                <a:ea typeface="jf open 粉圓 2.1" pitchFamily="34" charset="-122"/>
                <a:cs typeface="jf open 粉圓 2.1" pitchFamily="34" charset="-120"/>
              </a:rPr>
              <a:t> [54,088 × 819]</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author.x</a:t>
            </a:r>
            <a:r>
              <a:rPr lang="en-US" sz="800" dirty="0">
                <a:solidFill>
                  <a:srgbClr val="021A54"/>
                </a:solidFill>
                <a:latin typeface="jf open 粉圓 2.1" pitchFamily="34" charset="0"/>
                <a:ea typeface="jf open 粉圓 2.1" pitchFamily="34" charset="-122"/>
                <a:cs typeface="jf open 粉圓 2.1" pitchFamily="34" charset="-120"/>
              </a:rPr>
              <a:t> [34,939 × 10]</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category.emb</a:t>
            </a:r>
            <a:r>
              <a:rPr lang="en-US" sz="800" dirty="0">
                <a:solidFill>
                  <a:srgbClr val="021A54"/>
                </a:solidFill>
                <a:latin typeface="jf open 粉圓 2.1" pitchFamily="34" charset="0"/>
                <a:ea typeface="jf open 粉圓 2.1" pitchFamily="34" charset="-122"/>
                <a:cs typeface="jf open 粉圓 2.1" pitchFamily="34" charset="-120"/>
              </a:rPr>
              <a:t> [51, 128]</a:t>
            </a:r>
            <a:endParaRPr lang="en-US" sz="800" dirty="0">
              <a:solidFill>
                <a:srgbClr val="021A54"/>
              </a:solidFill>
            </a:endParaRPr>
          </a:p>
        </p:txBody>
      </p:sp>
      <p:sp>
        <p:nvSpPr>
          <p:cNvPr id="8" name="Text 6"/>
          <p:cNvSpPr/>
          <p:nvPr/>
        </p:nvSpPr>
        <p:spPr>
          <a:xfrm>
            <a:off x="192024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9" name="Shape 7"/>
          <p:cNvSpPr/>
          <p:nvPr/>
        </p:nvSpPr>
        <p:spPr>
          <a:xfrm>
            <a:off x="2011680" y="777240"/>
            <a:ext cx="1600200" cy="2468880"/>
          </a:xfrm>
          <a:prstGeom prst="roundRect">
            <a:avLst>
              <a:gd name="adj" fmla="val 5714"/>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0" name="Text 8"/>
          <p:cNvSpPr/>
          <p:nvPr/>
        </p:nvSpPr>
        <p:spPr>
          <a:xfrm>
            <a:off x="2011680" y="841248"/>
            <a:ext cx="1600200" cy="658368"/>
          </a:xfrm>
          <a:prstGeom prst="rect">
            <a:avLst/>
          </a:prstGeom>
          <a:noFill/>
          <a:ln/>
        </p:spPr>
        <p:txBody>
          <a:bodyPr wrap="square" rtlCol="0" anchor="ctr"/>
          <a:lstStyle/>
          <a:p>
            <a:pPr algn="ctr"/>
            <a:r>
              <a:rPr lang="en-US" sz="1050" b="1" dirty="0" err="1">
                <a:solidFill>
                  <a:srgbClr val="021A54"/>
                </a:solidFill>
                <a:latin typeface="jf open 粉圓 2.1" pitchFamily="34" charset="0"/>
                <a:ea typeface="jf open 粉圓 2.1" pitchFamily="34" charset="-122"/>
              </a:rPr>
              <a:t>輸入投影層</a:t>
            </a:r>
            <a:endParaRPr lang="en-US" sz="1050" b="1" dirty="0">
              <a:solidFill>
                <a:srgbClr val="021A54"/>
              </a:solidFill>
              <a:latin typeface="jf open 粉圓 2.1" pitchFamily="34" charset="0"/>
              <a:ea typeface="jf open 粉圓 2.1" pitchFamily="34" charset="-122"/>
            </a:endParaRPr>
          </a:p>
          <a:p>
            <a:pPr algn="ctr"/>
            <a:r>
              <a:rPr lang="en-US" sz="1050" b="1" dirty="0">
                <a:solidFill>
                  <a:srgbClr val="021A54"/>
                </a:solidFill>
                <a:latin typeface="jf open 粉圓 2.1" pitchFamily="34" charset="0"/>
                <a:ea typeface="jf open 粉圓 2.1" pitchFamily="34" charset="-122"/>
              </a:rPr>
              <a:t>(Linear + </a:t>
            </a:r>
            <a:r>
              <a:rPr lang="en-US" sz="1050" b="1" dirty="0" err="1">
                <a:solidFill>
                  <a:srgbClr val="021A54"/>
                </a:solidFill>
                <a:latin typeface="jf open 粉圓 2.1" pitchFamily="34" charset="0"/>
                <a:ea typeface="jf open 粉圓 2.1" pitchFamily="34" charset="-122"/>
              </a:rPr>
              <a:t>ReLU</a:t>
            </a:r>
            <a:r>
              <a:rPr lang="en-US" sz="1050" b="1" dirty="0">
                <a:solidFill>
                  <a:srgbClr val="021A54"/>
                </a:solidFill>
                <a:latin typeface="jf open 粉圓 2.1" pitchFamily="34" charset="0"/>
                <a:ea typeface="jf open 粉圓 2.1" pitchFamily="34" charset="-122"/>
              </a:rPr>
              <a:t>)</a:t>
            </a:r>
          </a:p>
        </p:txBody>
      </p:sp>
      <p:sp>
        <p:nvSpPr>
          <p:cNvPr id="11" name="Shape 9"/>
          <p:cNvSpPr/>
          <p:nvPr/>
        </p:nvSpPr>
        <p:spPr>
          <a:xfrm>
            <a:off x="2176272" y="1517904"/>
            <a:ext cx="1271016" cy="0"/>
          </a:xfrm>
          <a:prstGeom prst="line">
            <a:avLst/>
          </a:prstGeom>
          <a:noFill/>
          <a:ln w="8890">
            <a:solidFill>
              <a:srgbClr val="FF85BB"/>
            </a:solidFill>
            <a:prstDash val="solid"/>
          </a:ln>
        </p:spPr>
        <p:txBody>
          <a:bodyPr/>
          <a:lstStyle/>
          <a:p>
            <a:endParaRPr lang="zh-TW" altLang="en-US"/>
          </a:p>
        </p:txBody>
      </p:sp>
      <p:sp>
        <p:nvSpPr>
          <p:cNvPr id="12" name="Text 10"/>
          <p:cNvSpPr/>
          <p:nvPr/>
        </p:nvSpPr>
        <p:spPr>
          <a:xfrm>
            <a:off x="205740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video/author: Linear</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category: Embedding(51,128)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統一 d = 128 維</a:t>
            </a:r>
            <a:endParaRPr lang="en-US" sz="800" dirty="0">
              <a:solidFill>
                <a:srgbClr val="021A54"/>
              </a:solidFill>
            </a:endParaRPr>
          </a:p>
        </p:txBody>
      </p:sp>
      <p:sp>
        <p:nvSpPr>
          <p:cNvPr id="13" name="Text 11"/>
          <p:cNvSpPr/>
          <p:nvPr/>
        </p:nvSpPr>
        <p:spPr>
          <a:xfrm>
            <a:off x="361188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14" name="Shape 12"/>
          <p:cNvSpPr/>
          <p:nvPr/>
        </p:nvSpPr>
        <p:spPr>
          <a:xfrm>
            <a:off x="3703320" y="785707"/>
            <a:ext cx="1600200" cy="2468880"/>
          </a:xfrm>
          <a:prstGeom prst="roundRect">
            <a:avLst>
              <a:gd name="adj" fmla="val 5714"/>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5" name="Text 13"/>
          <p:cNvSpPr/>
          <p:nvPr/>
        </p:nvSpPr>
        <p:spPr>
          <a:xfrm>
            <a:off x="370332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HeteroConv</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Layer 1</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(1-hop)</a:t>
            </a:r>
            <a:endParaRPr lang="en-US" sz="1050" dirty="0"/>
          </a:p>
        </p:txBody>
      </p:sp>
      <p:sp>
        <p:nvSpPr>
          <p:cNvPr id="16" name="Shape 14"/>
          <p:cNvSpPr/>
          <p:nvPr/>
        </p:nvSpPr>
        <p:spPr>
          <a:xfrm>
            <a:off x="3867912" y="1517904"/>
            <a:ext cx="1271016" cy="0"/>
          </a:xfrm>
          <a:prstGeom prst="line">
            <a:avLst/>
          </a:prstGeom>
          <a:noFill/>
          <a:ln w="8890">
            <a:solidFill>
              <a:srgbClr val="FFCEE3"/>
            </a:solidFill>
            <a:prstDash val="solid"/>
          </a:ln>
        </p:spPr>
        <p:txBody>
          <a:bodyPr/>
          <a:lstStyle/>
          <a:p>
            <a:endParaRPr lang="zh-TW" altLang="en-US"/>
          </a:p>
        </p:txBody>
      </p:sp>
      <p:sp>
        <p:nvSpPr>
          <p:cNvPr id="17" name="Text 15"/>
          <p:cNvSpPr/>
          <p:nvPr/>
        </p:nvSpPr>
        <p:spPr>
          <a:xfrm>
            <a:off x="374904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GraphSAGE 聚合</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5 種邊關係各自傳遞</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err="1">
                <a:solidFill>
                  <a:srgbClr val="021A54"/>
                </a:solidFill>
                <a:latin typeface="jf open 粉圓 2.1" pitchFamily="34" charset="0"/>
                <a:ea typeface="jf open 粉圓 2.1" pitchFamily="34" charset="-122"/>
                <a:cs typeface="jf open 粉圓 2.1" pitchFamily="34" charset="-120"/>
              </a:rPr>
              <a:t>ReLU</a:t>
            </a:r>
            <a:r>
              <a:rPr lang="en-US" sz="800" dirty="0">
                <a:solidFill>
                  <a:srgbClr val="021A54"/>
                </a:solidFill>
                <a:latin typeface="jf open 粉圓 2.1" pitchFamily="34" charset="0"/>
                <a:ea typeface="jf open 粉圓 2.1" pitchFamily="34" charset="-122"/>
                <a:cs typeface="jf open 粉圓 2.1" pitchFamily="34" charset="-120"/>
              </a:rPr>
              <a:t> + Dropout(0.1)</a:t>
            </a:r>
            <a:endParaRPr lang="en-US" sz="800" dirty="0">
              <a:solidFill>
                <a:srgbClr val="021A54"/>
              </a:solidFill>
            </a:endParaRPr>
          </a:p>
        </p:txBody>
      </p:sp>
      <p:sp>
        <p:nvSpPr>
          <p:cNvPr id="18" name="Text 16"/>
          <p:cNvSpPr/>
          <p:nvPr/>
        </p:nvSpPr>
        <p:spPr>
          <a:xfrm>
            <a:off x="530352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19" name="Shape 17"/>
          <p:cNvSpPr/>
          <p:nvPr/>
        </p:nvSpPr>
        <p:spPr>
          <a:xfrm>
            <a:off x="5394960" y="777240"/>
            <a:ext cx="1600200" cy="2468880"/>
          </a:xfrm>
          <a:prstGeom prst="roundRect">
            <a:avLst>
              <a:gd name="adj" fmla="val 5714"/>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0" name="Text 18"/>
          <p:cNvSpPr/>
          <p:nvPr/>
        </p:nvSpPr>
        <p:spPr>
          <a:xfrm>
            <a:off x="5394960" y="841248"/>
            <a:ext cx="1600200" cy="658368"/>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HeteroConv</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Layer 2</a:t>
            </a:r>
            <a:endParaRPr lang="en-US" sz="1050" dirty="0"/>
          </a:p>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(2-hop)</a:t>
            </a:r>
            <a:endParaRPr lang="en-US" sz="1050" dirty="0"/>
          </a:p>
        </p:txBody>
      </p:sp>
      <p:sp>
        <p:nvSpPr>
          <p:cNvPr id="21" name="Shape 19"/>
          <p:cNvSpPr/>
          <p:nvPr/>
        </p:nvSpPr>
        <p:spPr>
          <a:xfrm>
            <a:off x="5559552" y="1517904"/>
            <a:ext cx="1271016" cy="0"/>
          </a:xfrm>
          <a:prstGeom prst="line">
            <a:avLst/>
          </a:prstGeom>
          <a:noFill/>
          <a:ln w="8890">
            <a:solidFill>
              <a:srgbClr val="FF85BB"/>
            </a:solidFill>
            <a:prstDash val="solid"/>
          </a:ln>
        </p:spPr>
        <p:txBody>
          <a:bodyPr/>
          <a:lstStyle/>
          <a:p>
            <a:endParaRPr lang="zh-TW" altLang="en-US"/>
          </a:p>
        </p:txBody>
      </p:sp>
      <p:sp>
        <p:nvSpPr>
          <p:cNvPr id="22" name="Text 20"/>
          <p:cNvSpPr/>
          <p:nvPr/>
        </p:nvSpPr>
        <p:spPr>
          <a:xfrm>
            <a:off x="544068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鄰居已融合鄰域資訊</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感受野擴展到 2-hop</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ReLU + Dropout(0.1)</a:t>
            </a:r>
            <a:endParaRPr lang="en-US" sz="800" dirty="0">
              <a:solidFill>
                <a:srgbClr val="021A54"/>
              </a:solidFill>
            </a:endParaRPr>
          </a:p>
        </p:txBody>
      </p:sp>
      <p:sp>
        <p:nvSpPr>
          <p:cNvPr id="23" name="Text 21"/>
          <p:cNvSpPr/>
          <p:nvPr/>
        </p:nvSpPr>
        <p:spPr>
          <a:xfrm>
            <a:off x="6995160" y="1783080"/>
            <a:ext cx="91440" cy="256032"/>
          </a:xfrm>
          <a:prstGeom prst="rect">
            <a:avLst/>
          </a:prstGeom>
          <a:noFill/>
          <a:ln/>
        </p:spPr>
        <p:txBody>
          <a:bodyPr wrap="square" rtlCol="0" anchor="ctr"/>
          <a:lstStyle/>
          <a:p>
            <a:pPr marL="0" indent="0">
              <a:buNone/>
            </a:pPr>
            <a:r>
              <a:rPr lang="en-US" sz="1100" dirty="0">
                <a:solidFill>
                  <a:srgbClr val="FF85BB"/>
                </a:solidFill>
                <a:latin typeface="jf open 粉圓 2.1" pitchFamily="34" charset="0"/>
                <a:ea typeface="jf open 粉圓 2.1" pitchFamily="34" charset="-122"/>
                <a:cs typeface="jf open 粉圓 2.1" pitchFamily="34" charset="-120"/>
              </a:rPr>
              <a:t>▶</a:t>
            </a:r>
            <a:endParaRPr lang="en-US" sz="1100" dirty="0"/>
          </a:p>
        </p:txBody>
      </p:sp>
      <p:sp>
        <p:nvSpPr>
          <p:cNvPr id="24" name="Shape 22"/>
          <p:cNvSpPr/>
          <p:nvPr/>
        </p:nvSpPr>
        <p:spPr>
          <a:xfrm>
            <a:off x="7086600" y="777240"/>
            <a:ext cx="1600200" cy="2468880"/>
          </a:xfrm>
          <a:prstGeom prst="roundRect">
            <a:avLst>
              <a:gd name="adj" fmla="val 5714"/>
            </a:avLst>
          </a:prstGeom>
          <a:solidFill>
            <a:srgbClr val="FFFFFF"/>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5" name="Text 23"/>
          <p:cNvSpPr/>
          <p:nvPr/>
        </p:nvSpPr>
        <p:spPr>
          <a:xfrm>
            <a:off x="7086600" y="841248"/>
            <a:ext cx="1600200" cy="658368"/>
          </a:xfrm>
          <a:prstGeom prst="rect">
            <a:avLst/>
          </a:prstGeom>
          <a:noFill/>
          <a:ln/>
        </p:spPr>
        <p:txBody>
          <a:bodyPr wrap="square" rtlCol="0" anchor="ctr"/>
          <a:lstStyle/>
          <a:p>
            <a:pPr marL="0" indent="0" algn="ctr">
              <a:buNone/>
            </a:pPr>
            <a:r>
              <a:rPr lang="en-US" sz="1050" b="1" dirty="0">
                <a:solidFill>
                  <a:srgbClr val="FF85BB"/>
                </a:solidFill>
                <a:latin typeface="jf open 粉圓 2.1" pitchFamily="34" charset="0"/>
                <a:ea typeface="jf open 粉圓 2.1" pitchFamily="34" charset="-122"/>
                <a:cs typeface="jf open 粉圓 2.1" pitchFamily="34" charset="-120"/>
              </a:rPr>
              <a:t>輸出頭</a:t>
            </a:r>
            <a:endParaRPr lang="en-US" sz="1050" dirty="0"/>
          </a:p>
          <a:p>
            <a:pPr marL="0" indent="0" algn="ctr">
              <a:buNone/>
            </a:pPr>
            <a:r>
              <a:rPr lang="en-US" sz="1050" b="1" dirty="0">
                <a:solidFill>
                  <a:srgbClr val="FF85BB"/>
                </a:solidFill>
                <a:latin typeface="jf open 粉圓 2.1" pitchFamily="34" charset="0"/>
                <a:ea typeface="jf open 粉圓 2.1" pitchFamily="34" charset="-122"/>
                <a:cs typeface="jf open 粉圓 2.1" pitchFamily="34" charset="-120"/>
              </a:rPr>
              <a:t>(video only)</a:t>
            </a:r>
            <a:endParaRPr lang="en-US" sz="1050" dirty="0"/>
          </a:p>
        </p:txBody>
      </p:sp>
      <p:sp>
        <p:nvSpPr>
          <p:cNvPr id="26" name="Shape 24"/>
          <p:cNvSpPr/>
          <p:nvPr/>
        </p:nvSpPr>
        <p:spPr>
          <a:xfrm>
            <a:off x="7251192" y="1517904"/>
            <a:ext cx="1271016" cy="0"/>
          </a:xfrm>
          <a:prstGeom prst="line">
            <a:avLst/>
          </a:prstGeom>
          <a:noFill/>
          <a:ln w="8890">
            <a:solidFill>
              <a:srgbClr val="FF85BB"/>
            </a:solidFill>
            <a:prstDash val="solid"/>
          </a:ln>
        </p:spPr>
        <p:txBody>
          <a:bodyPr/>
          <a:lstStyle/>
          <a:p>
            <a:endParaRPr lang="zh-TW" altLang="en-US"/>
          </a:p>
        </p:txBody>
      </p:sp>
      <p:sp>
        <p:nvSpPr>
          <p:cNvPr id="27" name="Text 25"/>
          <p:cNvSpPr/>
          <p:nvPr/>
        </p:nvSpPr>
        <p:spPr>
          <a:xfrm>
            <a:off x="7132320" y="1572768"/>
            <a:ext cx="1508760" cy="1572768"/>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h[128]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Linear(128,64)</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Linear(64,8)</a:t>
            </a:r>
            <a:endParaRPr lang="en-US" sz="800" dirty="0">
              <a:solidFill>
                <a:srgbClr val="021A54"/>
              </a:solidFill>
            </a:endParaRPr>
          </a:p>
          <a:p>
            <a:pPr marL="171450" indent="-171450">
              <a:lnSpc>
                <a:spcPct val="150000"/>
              </a:lnSpc>
              <a:buFont typeface="Arial" panose="020B0604020202020204" pitchFamily="34" charset="0"/>
              <a:buChar char="•"/>
            </a:pPr>
            <a:r>
              <a:rPr lang="en-US" sz="800" dirty="0">
                <a:solidFill>
                  <a:srgbClr val="021A54"/>
                </a:solidFill>
                <a:latin typeface="jf open 粉圓 2.1" pitchFamily="34" charset="0"/>
                <a:ea typeface="jf open 粉圓 2.1" pitchFamily="34" charset="-122"/>
                <a:cs typeface="jf open 粉圓 2.1" pitchFamily="34" charset="-120"/>
              </a:rPr>
              <a:t>→ ŷ ∈ R⁸</a:t>
            </a:r>
            <a:endParaRPr lang="en-US" sz="800" dirty="0">
              <a:solidFill>
                <a:srgbClr val="021A54"/>
              </a:solidFill>
            </a:endParaRPr>
          </a:p>
        </p:txBody>
      </p:sp>
      <p:sp>
        <p:nvSpPr>
          <p:cNvPr id="28" name="Shape 26"/>
          <p:cNvSpPr/>
          <p:nvPr/>
        </p:nvSpPr>
        <p:spPr>
          <a:xfrm>
            <a:off x="320040" y="3366552"/>
            <a:ext cx="8503920" cy="1554480"/>
          </a:xfrm>
          <a:prstGeom prst="roundRect">
            <a:avLst>
              <a:gd name="adj" fmla="val 5882"/>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29" name="Text 27"/>
          <p:cNvSpPr/>
          <p:nvPr/>
        </p:nvSpPr>
        <p:spPr>
          <a:xfrm>
            <a:off x="457200" y="3456432"/>
            <a:ext cx="5486400" cy="274320"/>
          </a:xfrm>
          <a:prstGeom prst="rect">
            <a:avLst/>
          </a:prstGeom>
          <a:noFill/>
          <a:ln/>
        </p:spPr>
        <p:txBody>
          <a:bodyPr wrap="square" rtlCol="0" anchor="ctr"/>
          <a:lstStyle/>
          <a:p>
            <a:pPr marL="0" indent="0">
              <a:buNone/>
            </a:pPr>
            <a:r>
              <a:rPr lang="en-US" sz="1150" b="1" dirty="0">
                <a:solidFill>
                  <a:srgbClr val="021A54"/>
                </a:solidFill>
                <a:latin typeface="jf open 粉圓 2.1" pitchFamily="34" charset="0"/>
                <a:ea typeface="jf open 粉圓 2.1" pitchFamily="34" charset="-122"/>
                <a:cs typeface="jf open 粉圓 2.1" pitchFamily="34" charset="-120"/>
              </a:rPr>
              <a:t>GraphSAGE 異質聚合更新公式（每層）</a:t>
            </a:r>
            <a:endParaRPr lang="en-US" sz="1150" dirty="0"/>
          </a:p>
        </p:txBody>
      </p:sp>
      <p:sp>
        <p:nvSpPr>
          <p:cNvPr id="30" name="Shape 28"/>
          <p:cNvSpPr/>
          <p:nvPr/>
        </p:nvSpPr>
        <p:spPr>
          <a:xfrm>
            <a:off x="457200" y="3767328"/>
            <a:ext cx="8183880" cy="621792"/>
          </a:xfrm>
          <a:prstGeom prst="roundRect">
            <a:avLst>
              <a:gd name="adj" fmla="val 10294"/>
            </a:avLst>
          </a:prstGeom>
          <a:solidFill>
            <a:srgbClr val="F5F5F5"/>
          </a:solidFill>
          <a:ln w="12700">
            <a:solidFill>
              <a:srgbClr val="FFCEE3"/>
            </a:solidFill>
            <a:prstDash val="solid"/>
          </a:ln>
        </p:spPr>
        <p:txBody>
          <a:bodyPr/>
          <a:lstStyle/>
          <a:p>
            <a:endParaRPr lang="zh-TW" altLang="en-US"/>
          </a:p>
        </p:txBody>
      </p:sp>
      <p:sp>
        <p:nvSpPr>
          <p:cNvPr id="31" name="Text 29"/>
          <p:cNvSpPr/>
          <p:nvPr/>
        </p:nvSpPr>
        <p:spPr>
          <a:xfrm>
            <a:off x="457200" y="3813048"/>
            <a:ext cx="8183880" cy="530352"/>
          </a:xfrm>
          <a:prstGeom prst="rect">
            <a:avLst/>
          </a:prstGeom>
          <a:noFill/>
          <a:ln/>
        </p:spPr>
        <p:txBody>
          <a:bodyPr wrap="square" rtlCol="0" anchor="ctr"/>
          <a:lstStyle/>
          <a:p>
            <a:pPr marL="0" indent="0" algn="ctr">
              <a:buNone/>
            </a:pPr>
            <a:endParaRPr lang="en-US" sz="1250" dirty="0"/>
          </a:p>
        </p:txBody>
      </p:sp>
      <p:sp>
        <p:nvSpPr>
          <p:cNvPr id="32" name="Text 30"/>
          <p:cNvSpPr/>
          <p:nvPr/>
        </p:nvSpPr>
        <p:spPr>
          <a:xfrm>
            <a:off x="457200" y="4416552"/>
            <a:ext cx="8183880" cy="411480"/>
          </a:xfrm>
          <a:prstGeom prst="rect">
            <a:avLst/>
          </a:prstGeom>
          <a:noFill/>
          <a:ln/>
        </p:spPr>
        <p:txBody>
          <a:bodyPr wrap="square" rtlCol="0" anchor="ctr"/>
          <a:lstStyle/>
          <a:p>
            <a:pPr marL="0" indent="0" algn="ctr">
              <a:buNone/>
            </a:pPr>
            <a:r>
              <a:rPr lang="en-US" sz="1000" b="1" dirty="0">
                <a:solidFill>
                  <a:srgbClr val="FF85BB"/>
                </a:solidFill>
                <a:latin typeface="jf open 粉圓 2.1" pitchFamily="34" charset="0"/>
                <a:ea typeface="jf open 粉圓 2.1" pitchFamily="34" charset="-122"/>
                <a:cs typeface="jf open 粉圓 2.1" pitchFamily="34" charset="-120"/>
              </a:rPr>
              <a:t>R</a:t>
            </a:r>
            <a:r>
              <a:rPr lang="en-US" sz="1000" dirty="0">
                <a:solidFill>
                  <a:srgbClr val="4F6082"/>
                </a:solidFill>
                <a:latin typeface="jf open 粉圓 2.1" pitchFamily="34" charset="0"/>
                <a:ea typeface="jf open 粉圓 2.1" pitchFamily="34" charset="-122"/>
                <a:cs typeface="jf open 粉圓 2.1" pitchFamily="34" charset="-120"/>
              </a:rPr>
              <a:t> = 邊關係集合（5 種）     </a:t>
            </a:r>
            <a:r>
              <a:rPr lang="en-US" sz="1000" b="1" dirty="0">
                <a:solidFill>
                  <a:srgbClr val="FF85BB"/>
                </a:solidFill>
                <a:latin typeface="jf open 粉圓 2.1" pitchFamily="34" charset="0"/>
                <a:ea typeface="jf open 粉圓 2.1" pitchFamily="34" charset="-122"/>
                <a:cs typeface="jf open 粉圓 2.1" pitchFamily="34" charset="-120"/>
              </a:rPr>
              <a:t>σ</a:t>
            </a:r>
            <a:r>
              <a:rPr lang="en-US" sz="1000" dirty="0">
                <a:solidFill>
                  <a:srgbClr val="4F6082"/>
                </a:solidFill>
                <a:latin typeface="jf open 粉圓 2.1" pitchFamily="34" charset="0"/>
                <a:ea typeface="jf open 粉圓 2.1" pitchFamily="34" charset="-122"/>
                <a:cs typeface="jf open 粉圓 2.1" pitchFamily="34" charset="-120"/>
              </a:rPr>
              <a:t> = ReLU     </a:t>
            </a:r>
            <a:r>
              <a:rPr lang="en-US" sz="1000" b="1" dirty="0">
                <a:solidFill>
                  <a:srgbClr val="FF85BB"/>
                </a:solidFill>
                <a:latin typeface="jf open 粉圓 2.1" pitchFamily="34" charset="0"/>
                <a:ea typeface="jf open 粉圓 2.1" pitchFamily="34" charset="-122"/>
                <a:cs typeface="jf open 粉圓 2.1" pitchFamily="34" charset="-120"/>
              </a:rPr>
              <a:t>W_r^(l)</a:t>
            </a:r>
            <a:r>
              <a:rPr lang="en-US" sz="1000" dirty="0">
                <a:solidFill>
                  <a:srgbClr val="4F6082"/>
                </a:solidFill>
                <a:latin typeface="jf open 粉圓 2.1" pitchFamily="34" charset="0"/>
                <a:ea typeface="jf open 粉圓 2.1" pitchFamily="34" charset="-122"/>
                <a:cs typeface="jf open 粉圓 2.1" pitchFamily="34" charset="-120"/>
              </a:rPr>
              <a:t> = 關係 r 專屬可學習投影矩陣 ∈ R^(128×128)</a:t>
            </a:r>
            <a:endParaRPr lang="en-US" sz="1000" dirty="0"/>
          </a:p>
        </p:txBody>
      </p:sp>
      <p:sp>
        <p:nvSpPr>
          <p:cNvPr id="34" name="TextBox 33"/>
          <p:cNvSpPr txBox="1"/>
          <p:nvPr/>
        </p:nvSpPr>
        <p:spPr>
          <a:xfrm>
            <a:off x="320040" y="4946400"/>
            <a:ext cx="8503920" cy="201168"/>
          </a:xfrm>
          <a:prstGeom prst="rect">
            <a:avLst/>
          </a:prstGeom>
          <a:noFill/>
        </p:spPr>
        <p:txBody>
          <a:bodyPr wrap="none">
            <a:spAutoFit/>
          </a:bodyPr>
          <a:lstStyle/>
          <a:p>
            <a:r>
              <a:rPr sz="750" dirty="0">
                <a:solidFill>
                  <a:srgbClr val="8A9AB8"/>
                </a:solidFill>
                <a:latin typeface="jf open 粉圓 2.1"/>
              </a:rPr>
              <a:t>Ref: [8] Hamilton et al. (2017) — </a:t>
            </a:r>
            <a:r>
              <a:rPr sz="750" dirty="0" err="1">
                <a:solidFill>
                  <a:srgbClr val="8A9AB8"/>
                </a:solidFill>
                <a:latin typeface="jf open 粉圓 2.1"/>
              </a:rPr>
              <a:t>GraphSAGE</a:t>
            </a:r>
            <a:endParaRPr sz="750" dirty="0">
              <a:solidFill>
                <a:srgbClr val="8A9AB8"/>
              </a:solidFill>
              <a:latin typeface="jf open 粉圓 2.1"/>
            </a:endParaRPr>
          </a:p>
        </p:txBody>
      </p:sp>
      <p:pic>
        <p:nvPicPr>
          <p:cNvPr id="35" name="Picture 34" descr="graphsage_exact.png"/>
          <p:cNvPicPr>
            <a:picLocks noChangeAspect="1"/>
          </p:cNvPicPr>
          <p:nvPr/>
        </p:nvPicPr>
        <p:blipFill rotWithShape="1">
          <a:blip r:embed="rId3"/>
          <a:srcRect l="40223" t="35164" r="40782" b="38235"/>
          <a:stretch/>
        </p:blipFill>
        <p:spPr>
          <a:xfrm>
            <a:off x="1783080" y="3783076"/>
            <a:ext cx="5440680" cy="578900"/>
          </a:xfrm>
          <a:prstGeom prst="rect">
            <a:avLst/>
          </a:prstGeom>
        </p:spPr>
      </p:pic>
      <p:pic>
        <p:nvPicPr>
          <p:cNvPr id="33" name="圖片 32" descr="一張含有 文字, 字型, 筆跡, 行 的圖片&#10;&#10;自動產生的描述">
            <a:extLst>
              <a:ext uri="{FF2B5EF4-FFF2-40B4-BE49-F238E27FC236}">
                <a16:creationId xmlns:a16="http://schemas.microsoft.com/office/drawing/2014/main" id="{62657371-ECE0-C5AF-6598-8839B0A39963}"/>
              </a:ext>
            </a:extLst>
          </p:cNvPr>
          <p:cNvPicPr>
            <a:picLocks noChangeAspect="1"/>
          </p:cNvPicPr>
          <p:nvPr/>
        </p:nvPicPr>
        <p:blipFill rotWithShape="1">
          <a:blip r:embed="rId4"/>
          <a:srcRect l="2740" t="35216" r="1449" b="38735"/>
          <a:stretch/>
        </p:blipFill>
        <p:spPr>
          <a:xfrm>
            <a:off x="1347863" y="3783076"/>
            <a:ext cx="6311114" cy="5939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實驗設定：資料切分、訓練配置與損失函數</a:t>
            </a:r>
            <a:endParaRPr lang="en-US" sz="2100" dirty="0"/>
          </a:p>
        </p:txBody>
      </p:sp>
      <p:sp>
        <p:nvSpPr>
          <p:cNvPr id="4" name="Text 2"/>
          <p:cNvSpPr/>
          <p:nvPr/>
        </p:nvSpPr>
        <p:spPr>
          <a:xfrm>
            <a:off x="36576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訓練設定（Table 7）</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2034642154"/>
              </p:ext>
            </p:extLst>
          </p:nvPr>
        </p:nvGraphicFramePr>
        <p:xfrm>
          <a:off x="365760" y="1078992"/>
          <a:ext cx="4206240" cy="3067812"/>
        </p:xfrm>
        <a:graphic>
          <a:graphicData uri="http://schemas.openxmlformats.org/drawingml/2006/table">
            <a:tbl>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379476">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項目</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設定</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extLst>
                  <a:ext uri="{0D108BD9-81ED-4DB2-BD59-A6C34878D82A}">
                    <a16:rowId xmlns:a16="http://schemas.microsoft.com/office/drawing/2014/main" val="10000"/>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資料切分</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80/10/10（訓練 43,270 / 驗證 5,408 / 測試 5,410）</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深度學習框架</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PyTorch Geometric (PyG)</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優化器</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Adam，lr = 10⁻³</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訓練 epoch</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至多 500，patience =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隱藏維度 d</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128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9476">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Dropout</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0.1（每層 HeteroConv 後）</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9476">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總參數量</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450,632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365760" y="4224528"/>
            <a:ext cx="4206240" cy="731520"/>
          </a:xfrm>
          <a:prstGeom prst="roundRect">
            <a:avLst>
              <a:gd name="adj" fmla="val 12500"/>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dirty="0"/>
          </a:p>
        </p:txBody>
      </p:sp>
      <p:sp>
        <p:nvSpPr>
          <p:cNvPr id="7" name="Shape 4"/>
          <p:cNvSpPr/>
          <p:nvPr/>
        </p:nvSpPr>
        <p:spPr>
          <a:xfrm>
            <a:off x="365760" y="4315968"/>
            <a:ext cx="64008" cy="640080"/>
          </a:xfrm>
          <a:prstGeom prst="rect">
            <a:avLst/>
          </a:prstGeom>
          <a:solidFill>
            <a:srgbClr val="FF85BB"/>
          </a:solidFill>
          <a:ln w="12700">
            <a:solidFill>
              <a:srgbClr val="FF85BB"/>
            </a:solidFill>
            <a:prstDash val="solid"/>
          </a:ln>
        </p:spPr>
        <p:txBody>
          <a:bodyPr/>
          <a:lstStyle/>
          <a:p>
            <a:endParaRPr lang="zh-TW" altLang="en-US"/>
          </a:p>
        </p:txBody>
      </p:sp>
      <p:sp>
        <p:nvSpPr>
          <p:cNvPr id="8" name="Text 5"/>
          <p:cNvSpPr/>
          <p:nvPr/>
        </p:nvSpPr>
        <p:spPr>
          <a:xfrm>
            <a:off x="521208" y="4242054"/>
            <a:ext cx="3657600" cy="237744"/>
          </a:xfrm>
          <a:prstGeom prst="rect">
            <a:avLst/>
          </a:prstGeom>
          <a:noFill/>
          <a:ln/>
        </p:spPr>
        <p:txBody>
          <a:bodyPr wrap="square" rtlCol="0" anchor="ctr"/>
          <a:lstStyle/>
          <a:p>
            <a:pPr marL="0" indent="0">
              <a:buNone/>
            </a:pPr>
            <a:r>
              <a:rPr lang="en-US" sz="1050" b="1" dirty="0" err="1">
                <a:solidFill>
                  <a:srgbClr val="021A54"/>
                </a:solidFill>
                <a:latin typeface="jf open 粉圓 2.1" pitchFamily="34" charset="0"/>
                <a:ea typeface="jf open 粉圓 2.1" pitchFamily="34" charset="-122"/>
                <a:cs typeface="jf open 粉圓 2.1" pitchFamily="34" charset="-120"/>
              </a:rPr>
              <a:t>防止</a:t>
            </a:r>
            <a:r>
              <a:rPr lang="zh-TW" altLang="en-US" sz="1050" b="1" dirty="0">
                <a:solidFill>
                  <a:srgbClr val="021A54"/>
                </a:solidFill>
                <a:latin typeface="jf open 粉圓 2.1" pitchFamily="34" charset="0"/>
                <a:ea typeface="jf open 粉圓 2.1" pitchFamily="34" charset="-122"/>
                <a:cs typeface="jf open 粉圓 2.1" pitchFamily="34" charset="-120"/>
              </a:rPr>
              <a:t> </a:t>
            </a:r>
            <a:r>
              <a:rPr lang="en-US" altLang="zh-TW" sz="1050" b="1" dirty="0">
                <a:solidFill>
                  <a:srgbClr val="021A54"/>
                </a:solidFill>
                <a:latin typeface="jf open 粉圓 2.1" pitchFamily="34" charset="0"/>
                <a:ea typeface="jf open 粉圓 2.1" pitchFamily="34" charset="-122"/>
                <a:cs typeface="jf open 粉圓 2.1" pitchFamily="34" charset="-120"/>
              </a:rPr>
              <a:t>data leakage </a:t>
            </a:r>
            <a:r>
              <a:rPr lang="en-US" sz="1050" b="1" dirty="0" err="1">
                <a:solidFill>
                  <a:srgbClr val="021A54"/>
                </a:solidFill>
                <a:latin typeface="jf open 粉圓 2.1" pitchFamily="34" charset="0"/>
                <a:ea typeface="jf open 粉圓 2.1" pitchFamily="34" charset="-122"/>
                <a:cs typeface="jf open 粉圓 2.1" pitchFamily="34" charset="-120"/>
              </a:rPr>
              <a:t>屏障</a:t>
            </a:r>
            <a:endParaRPr lang="en-US" sz="1050" dirty="0"/>
          </a:p>
        </p:txBody>
      </p:sp>
      <p:sp>
        <p:nvSpPr>
          <p:cNvPr id="5" name="Text 6"/>
          <p:cNvSpPr/>
          <p:nvPr/>
        </p:nvSpPr>
        <p:spPr>
          <a:xfrm>
            <a:off x="521208" y="4416298"/>
            <a:ext cx="3840480" cy="402336"/>
          </a:xfrm>
          <a:prstGeom prst="rect">
            <a:avLst/>
          </a:prstGeom>
          <a:noFill/>
          <a:ln/>
        </p:spPr>
        <p:txBody>
          <a:bodyPr wrap="square" rtlCol="0" anchor="t"/>
          <a:lstStyle/>
          <a:p>
            <a:pPr marL="0" indent="0">
              <a:buNone/>
            </a:pPr>
            <a:r>
              <a:rPr lang="en-US" sz="950" dirty="0">
                <a:solidFill>
                  <a:srgbClr val="021A54"/>
                </a:solidFill>
                <a:latin typeface="jf open 粉圓 2.1" pitchFamily="34" charset="0"/>
                <a:ea typeface="jf open 粉圓 2.1" pitchFamily="34" charset="-122"/>
                <a:cs typeface="jf open 粉圓 2.1" pitchFamily="34" charset="-120"/>
              </a:rPr>
              <a:t>資料切分後，所有依賴「標籤」的二次特徵（作者歷史均值）僅允許使用訓練集（43,270 部）計算。驗證集與測試集的標籤在整個訓練過程中對模型不可見，直至最終評估時才讀取。</a:t>
            </a:r>
            <a:endParaRPr lang="en-US" sz="950" dirty="0"/>
          </a:p>
        </p:txBody>
      </p:sp>
      <p:sp>
        <p:nvSpPr>
          <p:cNvPr id="10" name="Text 7"/>
          <p:cNvSpPr/>
          <p:nvPr/>
        </p:nvSpPr>
        <p:spPr>
          <a:xfrm>
            <a:off x="4754880" y="777240"/>
            <a:ext cx="4114800" cy="274320"/>
          </a:xfrm>
          <a:prstGeom prst="rect">
            <a:avLst/>
          </a:prstGeom>
          <a:noFill/>
          <a:ln/>
        </p:spPr>
        <p:txBody>
          <a:bodyPr wrap="square" rtlCol="0" anchor="ctr"/>
          <a:lstStyle/>
          <a:p>
            <a:pPr marL="0" indent="0">
              <a:buNone/>
            </a:pPr>
            <a:r>
              <a:rPr lang="en-US" sz="1200" b="1" dirty="0">
                <a:solidFill>
                  <a:srgbClr val="021A54"/>
                </a:solidFill>
                <a:latin typeface="jf open 粉圓 2.1" pitchFamily="34" charset="0"/>
                <a:ea typeface="jf open 粉圓 2.1" pitchFamily="34" charset="-122"/>
                <a:cs typeface="jf open 粉圓 2.1" pitchFamily="34" charset="-120"/>
              </a:rPr>
              <a:t>多任務損失函數</a:t>
            </a:r>
            <a:endParaRPr lang="en-US" sz="1200" dirty="0"/>
          </a:p>
        </p:txBody>
      </p:sp>
      <p:sp>
        <p:nvSpPr>
          <p:cNvPr id="11" name="Shape 8"/>
          <p:cNvSpPr/>
          <p:nvPr/>
        </p:nvSpPr>
        <p:spPr>
          <a:xfrm>
            <a:off x="4754880" y="1078992"/>
            <a:ext cx="4114800" cy="3877056"/>
          </a:xfrm>
          <a:prstGeom prst="roundRect">
            <a:avLst>
              <a:gd name="adj" fmla="val 2358"/>
            </a:avLst>
          </a:prstGeom>
          <a:solidFill>
            <a:srgbClr val="FFFFFF"/>
          </a:solidFill>
          <a:ln w="1270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2" name="Text 9"/>
          <p:cNvSpPr/>
          <p:nvPr/>
        </p:nvSpPr>
        <p:spPr>
          <a:xfrm>
            <a:off x="4892040" y="1170432"/>
            <a:ext cx="3840480" cy="274320"/>
          </a:xfrm>
          <a:prstGeom prst="rect">
            <a:avLst/>
          </a:prstGeom>
          <a:noFill/>
          <a:ln/>
        </p:spPr>
        <p:txBody>
          <a:bodyPr wrap="square" rtlCol="0" anchor="ctr"/>
          <a:lstStyle/>
          <a:p>
            <a:pPr marL="0" indent="0">
              <a:buNone/>
            </a:pPr>
            <a:r>
              <a:rPr lang="en-US" sz="1050" dirty="0">
                <a:solidFill>
                  <a:srgbClr val="021A54"/>
                </a:solidFill>
                <a:latin typeface="jf open 粉圓 2.1" pitchFamily="34" charset="0"/>
                <a:ea typeface="jf open 粉圓 2.1" pitchFamily="34" charset="-122"/>
                <a:cs typeface="jf open 粉圓 2.1" pitchFamily="34" charset="-120"/>
              </a:rPr>
              <a:t>8 個預測目標同時訓練，以曝光次數加權：</a:t>
            </a:r>
            <a:endParaRPr lang="en-US" sz="1050" dirty="0"/>
          </a:p>
        </p:txBody>
      </p:sp>
      <p:sp>
        <p:nvSpPr>
          <p:cNvPr id="13" name="Shape 10"/>
          <p:cNvSpPr/>
          <p:nvPr/>
        </p:nvSpPr>
        <p:spPr>
          <a:xfrm>
            <a:off x="4892040" y="1481328"/>
            <a:ext cx="3840480" cy="640080"/>
          </a:xfrm>
          <a:prstGeom prst="roundRect">
            <a:avLst>
              <a:gd name="adj" fmla="val 10000"/>
            </a:avLst>
          </a:prstGeom>
          <a:solidFill>
            <a:srgbClr val="F5F5F5"/>
          </a:solidFill>
          <a:ln w="12700">
            <a:solidFill>
              <a:srgbClr val="FFCEE3"/>
            </a:solidFill>
            <a:prstDash val="solid"/>
          </a:ln>
        </p:spPr>
        <p:txBody>
          <a:bodyPr/>
          <a:lstStyle/>
          <a:p>
            <a:endParaRPr lang="zh-TW" altLang="en-US"/>
          </a:p>
        </p:txBody>
      </p:sp>
      <p:sp>
        <p:nvSpPr>
          <p:cNvPr id="14" name="Text 11"/>
          <p:cNvSpPr/>
          <p:nvPr/>
        </p:nvSpPr>
        <p:spPr>
          <a:xfrm>
            <a:off x="4892040" y="1527048"/>
            <a:ext cx="3840480" cy="548640"/>
          </a:xfrm>
          <a:prstGeom prst="rect">
            <a:avLst/>
          </a:prstGeom>
          <a:noFill/>
          <a:ln/>
        </p:spPr>
        <p:txBody>
          <a:bodyPr wrap="square" rtlCol="0" anchor="ctr"/>
          <a:lstStyle/>
          <a:p>
            <a:pPr marL="0" indent="0" algn="ctr">
              <a:buNone/>
            </a:pPr>
            <a:endParaRPr lang="en-US" sz="950" dirty="0"/>
          </a:p>
        </p:txBody>
      </p:sp>
      <p:sp>
        <p:nvSpPr>
          <p:cNvPr id="15" name="Shape 12"/>
          <p:cNvSpPr/>
          <p:nvPr/>
        </p:nvSpPr>
        <p:spPr>
          <a:xfrm>
            <a:off x="4754880" y="232257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16" name="Text 13"/>
          <p:cNvSpPr/>
          <p:nvPr/>
        </p:nvSpPr>
        <p:spPr>
          <a:xfrm>
            <a:off x="4919472" y="223113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MSE（7 個 rate 指標）</a:t>
            </a:r>
            <a:endParaRPr lang="en-US" sz="1050" dirty="0"/>
          </a:p>
        </p:txBody>
      </p:sp>
      <p:sp>
        <p:nvSpPr>
          <p:cNvPr id="17" name="Text 14"/>
          <p:cNvSpPr/>
          <p:nvPr/>
        </p:nvSpPr>
        <p:spPr>
          <a:xfrm>
            <a:off x="4919472" y="245059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使用均方誤差，均等對待各率類指標。</a:t>
            </a:r>
            <a:endParaRPr lang="en-US" sz="950" dirty="0"/>
          </a:p>
        </p:txBody>
      </p:sp>
      <p:sp>
        <p:nvSpPr>
          <p:cNvPr id="18" name="Shape 15"/>
          <p:cNvSpPr/>
          <p:nvPr/>
        </p:nvSpPr>
        <p:spPr>
          <a:xfrm>
            <a:off x="4754880" y="296265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19" name="Text 16"/>
          <p:cNvSpPr/>
          <p:nvPr/>
        </p:nvSpPr>
        <p:spPr>
          <a:xfrm>
            <a:off x="4919472" y="287121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Huber 損失（觀看時長）</a:t>
            </a:r>
            <a:endParaRPr lang="en-US" sz="1050" dirty="0"/>
          </a:p>
        </p:txBody>
      </p:sp>
      <p:sp>
        <p:nvSpPr>
          <p:cNvPr id="20" name="Text 17"/>
          <p:cNvSpPr/>
          <p:nvPr/>
        </p:nvSpPr>
        <p:spPr>
          <a:xfrm>
            <a:off x="4919472" y="309067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誤差小時平方懲罰，誤差大時線性，避免 MSE 對離群值（最大 545 秒）過度懲罰。</a:t>
            </a:r>
            <a:endParaRPr lang="en-US" sz="950" dirty="0"/>
          </a:p>
        </p:txBody>
      </p:sp>
      <p:sp>
        <p:nvSpPr>
          <p:cNvPr id="21" name="Shape 18"/>
          <p:cNvSpPr/>
          <p:nvPr/>
        </p:nvSpPr>
        <p:spPr>
          <a:xfrm>
            <a:off x="4754880" y="360273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22" name="Text 19"/>
          <p:cNvSpPr/>
          <p:nvPr/>
        </p:nvSpPr>
        <p:spPr>
          <a:xfrm>
            <a:off x="4919472" y="351129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log(1+t) 轉換</a:t>
            </a:r>
            <a:endParaRPr lang="en-US" sz="1050" dirty="0"/>
          </a:p>
        </p:txBody>
      </p:sp>
      <p:sp>
        <p:nvSpPr>
          <p:cNvPr id="23" name="Text 20"/>
          <p:cNvSpPr/>
          <p:nvPr/>
        </p:nvSpPr>
        <p:spPr>
          <a:xfrm>
            <a:off x="4919472" y="373075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觀看時長高度右偏（中位數 22 秒，最大 545 秒），對數壓縮使模型對各時長範圍均等學習。</a:t>
            </a:r>
            <a:endParaRPr lang="en-US" sz="950" dirty="0"/>
          </a:p>
        </p:txBody>
      </p:sp>
      <p:sp>
        <p:nvSpPr>
          <p:cNvPr id="24" name="Shape 21"/>
          <p:cNvSpPr/>
          <p:nvPr/>
        </p:nvSpPr>
        <p:spPr>
          <a:xfrm>
            <a:off x="4754880" y="4242816"/>
            <a:ext cx="64008" cy="402336"/>
          </a:xfrm>
          <a:prstGeom prst="rect">
            <a:avLst/>
          </a:prstGeom>
          <a:solidFill>
            <a:srgbClr val="FF85BB"/>
          </a:solidFill>
          <a:ln w="12700">
            <a:solidFill>
              <a:srgbClr val="FF85BB"/>
            </a:solidFill>
            <a:prstDash val="solid"/>
          </a:ln>
        </p:spPr>
        <p:txBody>
          <a:bodyPr/>
          <a:lstStyle/>
          <a:p>
            <a:endParaRPr lang="zh-TW" altLang="en-US"/>
          </a:p>
        </p:txBody>
      </p:sp>
      <p:sp>
        <p:nvSpPr>
          <p:cNvPr id="25" name="Text 22"/>
          <p:cNvSpPr/>
          <p:nvPr/>
        </p:nvSpPr>
        <p:spPr>
          <a:xfrm>
            <a:off x="4919472" y="4151376"/>
            <a:ext cx="3794760" cy="219456"/>
          </a:xfrm>
          <a:prstGeom prst="rect">
            <a:avLst/>
          </a:prstGeom>
          <a:noFill/>
          <a:ln/>
        </p:spPr>
        <p:txBody>
          <a:bodyPr wrap="square" rtlCol="0" anchor="ctr"/>
          <a:lstStyle/>
          <a:p>
            <a:pPr marL="0" indent="0">
              <a:buNone/>
            </a:pPr>
            <a:r>
              <a:rPr lang="en-US" sz="1050" b="1" dirty="0">
                <a:solidFill>
                  <a:srgbClr val="FF85BB"/>
                </a:solidFill>
                <a:latin typeface="jf open 粉圓 2.1" pitchFamily="34" charset="0"/>
                <a:ea typeface="jf open 粉圓 2.1" pitchFamily="34" charset="-122"/>
                <a:cs typeface="jf open 粉圓 2.1" pitchFamily="34" charset="-120"/>
              </a:rPr>
              <a:t>曝光加權 w_v</a:t>
            </a:r>
            <a:endParaRPr lang="en-US" sz="1050" dirty="0"/>
          </a:p>
        </p:txBody>
      </p:sp>
      <p:sp>
        <p:nvSpPr>
          <p:cNvPr id="26" name="Text 23"/>
          <p:cNvSpPr/>
          <p:nvPr/>
        </p:nvSpPr>
        <p:spPr>
          <a:xfrm>
            <a:off x="4919472" y="4370832"/>
            <a:ext cx="3794760" cy="365760"/>
          </a:xfrm>
          <a:prstGeom prst="rect">
            <a:avLst/>
          </a:prstGeom>
          <a:noFill/>
          <a:ln/>
        </p:spPr>
        <p:txBody>
          <a:bodyPr wrap="square" rtlCol="0" anchor="ctr"/>
          <a:lstStyle/>
          <a:p>
            <a:pPr marL="0" indent="0">
              <a:buNone/>
            </a:pPr>
            <a:r>
              <a:rPr lang="en-US" sz="950" dirty="0">
                <a:solidFill>
                  <a:srgbClr val="4F6082"/>
                </a:solidFill>
                <a:latin typeface="jf open 粉圓 2.1" pitchFamily="34" charset="0"/>
                <a:ea typeface="jf open 粉圓 2.1" pitchFamily="34" charset="-122"/>
                <a:cs typeface="jf open 粉圓 2.1" pitchFamily="34" charset="-120"/>
              </a:rPr>
              <a:t>w_v = n_v / Σ n_u，曝光多的影片標籤統計更可靠，應予更高的訓練權重。</a:t>
            </a:r>
            <a:endParaRPr lang="en-US" sz="950" dirty="0"/>
          </a:p>
        </p:txBody>
      </p:sp>
      <p:pic>
        <p:nvPicPr>
          <p:cNvPr id="29" name="Picture 28" descr="loss_exact.png"/>
          <p:cNvPicPr>
            <a:picLocks noChangeAspect="1"/>
          </p:cNvPicPr>
          <p:nvPr/>
        </p:nvPicPr>
        <p:blipFill rotWithShape="1">
          <a:blip r:embed="rId3"/>
          <a:srcRect l="27215" t="41350" r="27480" b="40000"/>
          <a:stretch/>
        </p:blipFill>
        <p:spPr>
          <a:xfrm>
            <a:off x="4919472" y="1688971"/>
            <a:ext cx="3794760" cy="260362"/>
          </a:xfrm>
          <a:prstGeom prst="rect">
            <a:avLst/>
          </a:prstGeom>
        </p:spPr>
      </p:pic>
      <p:pic>
        <p:nvPicPr>
          <p:cNvPr id="32" name="圖片 31">
            <a:extLst>
              <a:ext uri="{FF2B5EF4-FFF2-40B4-BE49-F238E27FC236}">
                <a16:creationId xmlns:a16="http://schemas.microsoft.com/office/drawing/2014/main" id="{59E43CA0-9238-A155-CE6C-07FE10475499}"/>
              </a:ext>
            </a:extLst>
          </p:cNvPr>
          <p:cNvPicPr>
            <a:picLocks noChangeAspect="1"/>
          </p:cNvPicPr>
          <p:nvPr/>
        </p:nvPicPr>
        <p:blipFill rotWithShape="1">
          <a:blip r:embed="rId4"/>
          <a:srcRect l="2208" r="1982"/>
          <a:stretch/>
        </p:blipFill>
        <p:spPr>
          <a:xfrm>
            <a:off x="4919472" y="1682500"/>
            <a:ext cx="3795891" cy="274320"/>
          </a:xfrm>
          <a:prstGeom prst="rect">
            <a:avLst/>
          </a:prstGeom>
        </p:spPr>
      </p:pic>
      <p:sp>
        <p:nvSpPr>
          <p:cNvPr id="27" name="文字方塊 26">
            <a:extLst>
              <a:ext uri="{FF2B5EF4-FFF2-40B4-BE49-F238E27FC236}">
                <a16:creationId xmlns:a16="http://schemas.microsoft.com/office/drawing/2014/main" id="{294341C2-BA76-FB9A-A5BF-E65F178E6C76}"/>
              </a:ext>
            </a:extLst>
          </p:cNvPr>
          <p:cNvSpPr txBox="1"/>
          <p:nvPr/>
        </p:nvSpPr>
        <p:spPr>
          <a:xfrm>
            <a:off x="321268" y="4947859"/>
            <a:ext cx="3429144" cy="207749"/>
          </a:xfrm>
          <a:prstGeom prst="rect">
            <a:avLst/>
          </a:prstGeom>
          <a:noFill/>
        </p:spPr>
        <p:txBody>
          <a:bodyPr wrap="none" rtlCol="0">
            <a:spAutoFit/>
          </a:bodyPr>
          <a:lstStyle/>
          <a:p>
            <a:r>
              <a:rPr lang="en" altLang="zh-TW" sz="750" dirty="0">
                <a:hlinkClick r:id="rId5"/>
              </a:rPr>
              <a:t>file:///Users/luoyi/Desktop/shortvideo_mmgcn_poc/docs/hetero_gnn_demo.html</a:t>
            </a:r>
            <a:endParaRPr lang="en" altLang="zh-TW"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576072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研究成果：HeteroGNN vs LightGBM</a:t>
            </a:r>
            <a:endParaRPr lang="en-US" sz="2100" dirty="0"/>
          </a:p>
        </p:txBody>
      </p:sp>
      <p:sp>
        <p:nvSpPr>
          <p:cNvPr id="4" name="Text 2"/>
          <p:cNvSpPr/>
          <p:nvPr/>
        </p:nvSpPr>
        <p:spPr>
          <a:xfrm>
            <a:off x="6217920" y="0"/>
            <a:ext cx="2651760" cy="658368"/>
          </a:xfrm>
          <a:prstGeom prst="rect">
            <a:avLst/>
          </a:prstGeom>
          <a:noFill/>
          <a:ln/>
        </p:spPr>
        <p:txBody>
          <a:bodyPr wrap="square" lIns="0" tIns="0" rIns="0" bIns="0" rtlCol="0" anchor="ctr"/>
          <a:lstStyle/>
          <a:p>
            <a:pPr marL="0" indent="0" algn="r">
              <a:buNone/>
            </a:pPr>
            <a:r>
              <a:rPr lang="en-US" sz="1100" dirty="0">
                <a:solidFill>
                  <a:srgbClr val="FFCEE3"/>
                </a:solidFill>
                <a:latin typeface="jf open 粉圓 2.1" pitchFamily="34" charset="0"/>
                <a:ea typeface="jf open 粉圓 2.1" pitchFamily="34" charset="-122"/>
                <a:cs typeface="jf open 粉圓 2.1" pitchFamily="34" charset="-120"/>
              </a:rPr>
              <a:t>測試集 5,410 部影片</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307273728"/>
              </p:ext>
            </p:extLst>
          </p:nvPr>
        </p:nvGraphicFramePr>
        <p:xfrm>
          <a:off x="320040" y="777240"/>
          <a:ext cx="5312409" cy="4114802"/>
        </p:xfrm>
        <a:graphic>
          <a:graphicData uri="http://schemas.openxmlformats.org/drawingml/2006/table">
            <a:tbl>
              <a:tblPr/>
              <a:tblGrid>
                <a:gridCol w="1740273">
                  <a:extLst>
                    <a:ext uri="{9D8B030D-6E8A-4147-A177-3AD203B41FA5}">
                      <a16:colId xmlns:a16="http://schemas.microsoft.com/office/drawing/2014/main" val="20000"/>
                    </a:ext>
                  </a:extLst>
                </a:gridCol>
                <a:gridCol w="934251">
                  <a:extLst>
                    <a:ext uri="{9D8B030D-6E8A-4147-A177-3AD203B41FA5}">
                      <a16:colId xmlns:a16="http://schemas.microsoft.com/office/drawing/2014/main" val="20001"/>
                    </a:ext>
                  </a:extLst>
                </a:gridCol>
                <a:gridCol w="934251">
                  <a:extLst>
                    <a:ext uri="{9D8B030D-6E8A-4147-A177-3AD203B41FA5}">
                      <a16:colId xmlns:a16="http://schemas.microsoft.com/office/drawing/2014/main" val="20002"/>
                    </a:ext>
                  </a:extLst>
                </a:gridCol>
                <a:gridCol w="851817">
                  <a:extLst>
                    <a:ext uri="{9D8B030D-6E8A-4147-A177-3AD203B41FA5}">
                      <a16:colId xmlns:a16="http://schemas.microsoft.com/office/drawing/2014/main" val="20003"/>
                    </a:ext>
                  </a:extLst>
                </a:gridCol>
                <a:gridCol w="851817">
                  <a:extLst>
                    <a:ext uri="{9D8B030D-6E8A-4147-A177-3AD203B41FA5}">
                      <a16:colId xmlns:a16="http://schemas.microsoft.com/office/drawing/2014/main" val="20004"/>
                    </a:ext>
                  </a:extLst>
                </a:gridCol>
              </a:tblGrid>
              <a:tr h="710746">
                <a:tc>
                  <a:txBody>
                    <a:bodyPr/>
                    <a:lstStyle/>
                    <a:p>
                      <a:pPr marL="0" indent="0">
                        <a:buNone/>
                      </a:pPr>
                      <a:r>
                        <a:rPr lang="en-US" sz="1050" b="1" dirty="0">
                          <a:solidFill>
                            <a:srgbClr val="FFFFFF"/>
                          </a:solidFill>
                          <a:latin typeface="jf open 粉圓 2.1" pitchFamily="34" charset="0"/>
                          <a:ea typeface="jf open 粉圓 2.1" pitchFamily="34" charset="-122"/>
                          <a:cs typeface="jf open 粉圓 2.1" pitchFamily="34" charset="-120"/>
                        </a:rPr>
                        <a:t>指標</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HeteroGNN</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Spearman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LightGBM</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Spearman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2A7A"/>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HeteroGNN</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MAE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1A54"/>
                    </a:solidFill>
                  </a:tcPr>
                </a:tc>
                <a:tc>
                  <a:txBody>
                    <a:bodyPr/>
                    <a:lstStyle/>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LightGBM</a:t>
                      </a:r>
                      <a:endParaRPr lang="en-US" sz="900" dirty="0">
                        <a:latin typeface="jf open 粉圓 2.1" charset="0"/>
                        <a:ea typeface="jf open 粉圓 2.1" charset="0"/>
                        <a:cs typeface="jf open 粉圓 2.1" charset="0"/>
                      </a:endParaRPr>
                    </a:p>
                    <a:p>
                      <a:pPr marL="0" indent="0" algn="ctr">
                        <a:buNone/>
                      </a:pPr>
                      <a:r>
                        <a:rPr lang="en-US" sz="900" b="1" dirty="0">
                          <a:solidFill>
                            <a:srgbClr val="FFFFFF"/>
                          </a:solidFill>
                          <a:latin typeface="jf open 粉圓 2.1" pitchFamily="34" charset="0"/>
                          <a:ea typeface="jf open 粉圓 2.1" pitchFamily="34" charset="-122"/>
                          <a:cs typeface="jf open 粉圓 2.1" pitchFamily="34" charset="-120"/>
                        </a:rPr>
                        <a:t>MAE ↓</a:t>
                      </a:r>
                      <a:endParaRPr lang="en-US" sz="90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2A7A"/>
                    </a:solidFill>
                  </a:tcPr>
                </a:tc>
                <a:extLst>
                  <a:ext uri="{0D108BD9-81ED-4DB2-BD59-A6C34878D82A}">
                    <a16:rowId xmlns:a16="http://schemas.microsoft.com/office/drawing/2014/main" val="10000"/>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like_rate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0.058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0.044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comment_rate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0.039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follow_rate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0.024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0.008</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collect_rate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+0.011</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−0.035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0.074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0.013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forward_rate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−0.005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0.066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0.005</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hate_rate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−0.014</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0.029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0.002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25507">
                <a:tc>
                  <a:txBody>
                    <a:bodyPr/>
                    <a:lstStyle/>
                    <a:p>
                      <a:pPr marL="0" indent="0">
                        <a:buNone/>
                      </a:pPr>
                      <a:r>
                        <a:rPr lang="en-US" sz="1050" dirty="0">
                          <a:solidFill>
                            <a:srgbClr val="000000"/>
                          </a:solidFill>
                          <a:latin typeface="jf open 粉圓 2.1" pitchFamily="34" charset="0"/>
                          <a:ea typeface="jf open 粉圓 2.1" pitchFamily="34" charset="-122"/>
                          <a:cs typeface="jf open 粉圓 2.1" pitchFamily="34" charset="-120"/>
                        </a:rPr>
                        <a:t>effective_view_rate</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−0.012</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+0.016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000000"/>
                          </a:solidFill>
                          <a:latin typeface="jf open 粉圓 2.1" pitchFamily="34" charset="0"/>
                          <a:ea typeface="jf open 粉圓 2.1" pitchFamily="34" charset="-122"/>
                          <a:cs typeface="jf open 粉圓 2.1" pitchFamily="34" charset="-120"/>
                        </a:rPr>
                        <a:t>0.169</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0.143</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25507">
                <a:tc>
                  <a:txBody>
                    <a:bodyPr/>
                    <a:lstStyle/>
                    <a:p>
                      <a:pPr marL="0" indent="0">
                        <a:buNone/>
                      </a:pPr>
                      <a:r>
                        <a:rPr lang="en-US" sz="1050" b="1" dirty="0">
                          <a:solidFill>
                            <a:srgbClr val="000000"/>
                          </a:solidFill>
                          <a:latin typeface="jf open 粉圓 2.1" pitchFamily="34" charset="0"/>
                          <a:ea typeface="jf open 粉圓 2.1" pitchFamily="34" charset="-122"/>
                          <a:cs typeface="jf open 粉圓 2.1" pitchFamily="34" charset="-120"/>
                        </a:rPr>
                        <a:t>mean_watch_time ★</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b="1" dirty="0">
                          <a:solidFill>
                            <a:srgbClr val="1A7A4A"/>
                          </a:solidFill>
                          <a:latin typeface="jf open 粉圓 2.1" pitchFamily="34" charset="0"/>
                          <a:ea typeface="jf open 粉圓 2.1" pitchFamily="34" charset="-122"/>
                          <a:cs typeface="jf open 粉圓 2.1" pitchFamily="34" charset="-120"/>
                        </a:rPr>
                        <a:t>+0.256</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4F6082"/>
                          </a:solidFill>
                          <a:latin typeface="jf open 粉圓 2.1" pitchFamily="34" charset="0"/>
                          <a:ea typeface="jf open 粉圓 2.1" pitchFamily="34" charset="-122"/>
                          <a:cs typeface="jf open 粉圓 2.1" pitchFamily="34" charset="-120"/>
                        </a:rPr>
                        <a:t>+0.047</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C0392B"/>
                          </a:solidFill>
                          <a:latin typeface="jf open 粉圓 2.1" pitchFamily="34" charset="0"/>
                          <a:ea typeface="jf open 粉圓 2.1" pitchFamily="34" charset="-122"/>
                          <a:cs typeface="jf open 粉圓 2.1" pitchFamily="34" charset="-120"/>
                        </a:rPr>
                        <a:t>386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tc>
                  <a:txBody>
                    <a:bodyPr/>
                    <a:lstStyle/>
                    <a:p>
                      <a:pPr marL="0" indent="0" algn="ctr">
                        <a:buNone/>
                      </a:pPr>
                      <a:r>
                        <a:rPr lang="en-US" sz="1050" dirty="0">
                          <a:solidFill>
                            <a:srgbClr val="1A7A4A"/>
                          </a:solidFill>
                          <a:latin typeface="jf open 粉圓 2.1" pitchFamily="34" charset="0"/>
                          <a:ea typeface="jf open 粉圓 2.1" pitchFamily="34" charset="-122"/>
                          <a:cs typeface="jf open 粉圓 2.1" pitchFamily="34" charset="-120"/>
                        </a:rPr>
                        <a:t>24 秒</a:t>
                      </a:r>
                      <a:endParaRPr lang="en-US" sz="1050" dirty="0">
                        <a:latin typeface="jf open 粉圓 2.1" charset="0"/>
                        <a:ea typeface="jf open 粉圓 2.1" charset="0"/>
                        <a:cs typeface="jf open 粉圓 2.1"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EE3"/>
                    </a:solidFill>
                  </a:tcPr>
                </a:tc>
                <a:extLst>
                  <a:ext uri="{0D108BD9-81ED-4DB2-BD59-A6C34878D82A}">
                    <a16:rowId xmlns:a16="http://schemas.microsoft.com/office/drawing/2014/main" val="10008"/>
                  </a:ext>
                </a:extLst>
              </a:tr>
            </a:tbl>
          </a:graphicData>
        </a:graphic>
      </p:graphicFrame>
      <p:sp>
        <p:nvSpPr>
          <p:cNvPr id="6" name="Shape 3"/>
          <p:cNvSpPr/>
          <p:nvPr/>
        </p:nvSpPr>
        <p:spPr>
          <a:xfrm>
            <a:off x="5833872" y="777240"/>
            <a:ext cx="2971800" cy="2606040"/>
          </a:xfrm>
          <a:prstGeom prst="roundRect">
            <a:avLst>
              <a:gd name="adj" fmla="val 3509"/>
            </a:avLst>
          </a:prstGeom>
          <a:solidFill>
            <a:srgbClr val="FFCEE3"/>
          </a:solidFill>
          <a:ln w="1270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7" name="Text 4"/>
          <p:cNvSpPr/>
          <p:nvPr/>
        </p:nvSpPr>
        <p:spPr>
          <a:xfrm>
            <a:off x="5833872" y="868680"/>
            <a:ext cx="2971800" cy="274320"/>
          </a:xfrm>
          <a:prstGeom prst="rect">
            <a:avLst/>
          </a:prstGeom>
          <a:noFill/>
          <a:ln/>
        </p:spPr>
        <p:txBody>
          <a:bodyPr wrap="square" rtlCol="0" anchor="ctr"/>
          <a:lstStyle/>
          <a:p>
            <a:pPr marL="0" indent="0" algn="ctr">
              <a:buNone/>
            </a:pPr>
            <a:r>
              <a:rPr lang="en-US" sz="1200" b="1" dirty="0">
                <a:solidFill>
                  <a:srgbClr val="021A54"/>
                </a:solidFill>
                <a:latin typeface="jf open 粉圓 2.1" pitchFamily="34" charset="0"/>
                <a:ea typeface="jf open 粉圓 2.1" pitchFamily="34" charset="-122"/>
                <a:cs typeface="jf open 粉圓 2.1" pitchFamily="34" charset="-120"/>
              </a:rPr>
              <a:t>核心成果</a:t>
            </a:r>
            <a:endParaRPr lang="en-US" sz="1200" dirty="0"/>
          </a:p>
        </p:txBody>
      </p:sp>
      <p:sp>
        <p:nvSpPr>
          <p:cNvPr id="8" name="Text 5"/>
          <p:cNvSpPr/>
          <p:nvPr/>
        </p:nvSpPr>
        <p:spPr>
          <a:xfrm>
            <a:off x="5833872" y="1143000"/>
            <a:ext cx="2971800" cy="914400"/>
          </a:xfrm>
          <a:prstGeom prst="rect">
            <a:avLst/>
          </a:prstGeom>
          <a:noFill/>
          <a:ln/>
        </p:spPr>
        <p:txBody>
          <a:bodyPr wrap="square" rtlCol="0" anchor="ctr"/>
          <a:lstStyle/>
          <a:p>
            <a:pPr marL="0" indent="0" algn="ctr">
              <a:buNone/>
            </a:pPr>
            <a:r>
              <a:rPr lang="en-US" sz="6200" b="1" dirty="0">
                <a:solidFill>
                  <a:srgbClr val="021A54"/>
                </a:solidFill>
                <a:latin typeface="jf open 粉圓 2.1" pitchFamily="34" charset="0"/>
                <a:ea typeface="jf open 粉圓 2.1" pitchFamily="34" charset="-122"/>
                <a:cs typeface="jf open 粉圓 2.1" pitchFamily="34" charset="-120"/>
              </a:rPr>
              <a:t>0.256</a:t>
            </a:r>
            <a:endParaRPr lang="en-US" sz="6200" dirty="0"/>
          </a:p>
        </p:txBody>
      </p:sp>
      <p:sp>
        <p:nvSpPr>
          <p:cNvPr id="9" name="Text 6"/>
          <p:cNvSpPr/>
          <p:nvPr/>
        </p:nvSpPr>
        <p:spPr>
          <a:xfrm>
            <a:off x="5833872" y="2066544"/>
            <a:ext cx="2971800" cy="256032"/>
          </a:xfrm>
          <a:prstGeom prst="rect">
            <a:avLst/>
          </a:prstGeom>
          <a:noFill/>
          <a:ln/>
        </p:spPr>
        <p:txBody>
          <a:bodyPr wrap="square" rtlCol="0" anchor="ctr"/>
          <a:lstStyle/>
          <a:p>
            <a:pPr marL="0" indent="0" algn="ctr">
              <a:buNone/>
            </a:pPr>
            <a:r>
              <a:rPr lang="en-US" sz="1000" dirty="0">
                <a:solidFill>
                  <a:srgbClr val="021A54"/>
                </a:solidFill>
                <a:latin typeface="jf open 粉圓 2.1" pitchFamily="34" charset="0"/>
                <a:ea typeface="jf open 粉圓 2.1" pitchFamily="34" charset="-122"/>
                <a:cs typeface="jf open 粉圓 2.1" pitchFamily="34" charset="-120"/>
              </a:rPr>
              <a:t>mean_watch_time Spearman</a:t>
            </a:r>
            <a:endParaRPr lang="en-US" sz="1000" dirty="0"/>
          </a:p>
        </p:txBody>
      </p:sp>
      <p:sp>
        <p:nvSpPr>
          <p:cNvPr id="5" name="Shape 7"/>
          <p:cNvSpPr/>
          <p:nvPr/>
        </p:nvSpPr>
        <p:spPr>
          <a:xfrm>
            <a:off x="6080760" y="2377440"/>
            <a:ext cx="2468880" cy="0"/>
          </a:xfrm>
          <a:prstGeom prst="line">
            <a:avLst/>
          </a:prstGeom>
          <a:noFill/>
          <a:ln w="12700">
            <a:solidFill>
              <a:srgbClr val="FF85BB"/>
            </a:solidFill>
            <a:prstDash val="solid"/>
          </a:ln>
        </p:spPr>
        <p:txBody>
          <a:bodyPr/>
          <a:lstStyle/>
          <a:p>
            <a:endParaRPr lang="zh-TW" altLang="en-US"/>
          </a:p>
        </p:txBody>
      </p:sp>
      <p:sp>
        <p:nvSpPr>
          <p:cNvPr id="11" name="Text 8"/>
          <p:cNvSpPr/>
          <p:nvPr/>
        </p:nvSpPr>
        <p:spPr>
          <a:xfrm>
            <a:off x="5833872" y="2432304"/>
            <a:ext cx="2971800" cy="274320"/>
          </a:xfrm>
          <a:prstGeom prst="rect">
            <a:avLst/>
          </a:prstGeom>
          <a:noFill/>
          <a:ln/>
        </p:spPr>
        <p:txBody>
          <a:bodyPr wrap="square" rtlCol="0" anchor="ctr"/>
          <a:lstStyle/>
          <a:p>
            <a:pPr marL="0" indent="0" algn="ctr">
              <a:buNone/>
            </a:pPr>
            <a:r>
              <a:rPr lang="en-US" sz="1050" b="1" dirty="0">
                <a:solidFill>
                  <a:srgbClr val="021A54"/>
                </a:solidFill>
                <a:latin typeface="jf open 粉圓 2.1" pitchFamily="34" charset="0"/>
                <a:ea typeface="jf open 粉圓 2.1" pitchFamily="34" charset="-122"/>
                <a:cs typeface="jf open 粉圓 2.1" pitchFamily="34" charset="-120"/>
              </a:rPr>
              <a:t>vs LightGBM: 0.047　→ 提升 5.5 倍</a:t>
            </a:r>
            <a:endParaRPr lang="en-US" sz="1050" dirty="0"/>
          </a:p>
        </p:txBody>
      </p:sp>
      <p:graphicFrame>
        <p:nvGraphicFramePr>
          <p:cNvPr id="12" name="Chart 0"/>
          <p:cNvGraphicFramePr/>
          <p:nvPr>
            <p:extLst>
              <p:ext uri="{D42A27DB-BD31-4B8C-83A1-F6EECF244321}">
                <p14:modId xmlns:p14="http://schemas.microsoft.com/office/powerpoint/2010/main" val="1654931248"/>
              </p:ext>
            </p:extLst>
          </p:nvPr>
        </p:nvGraphicFramePr>
        <p:xfrm>
          <a:off x="5806440" y="3429000"/>
          <a:ext cx="2999232"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320040" y="4946400"/>
            <a:ext cx="8503920" cy="201168"/>
          </a:xfrm>
          <a:prstGeom prst="rect">
            <a:avLst/>
          </a:prstGeom>
          <a:noFill/>
        </p:spPr>
        <p:txBody>
          <a:bodyPr wrap="none">
            <a:spAutoFit/>
          </a:bodyPr>
          <a:lstStyle/>
          <a:p>
            <a:r>
              <a:rPr sz="750">
                <a:solidFill>
                  <a:srgbClr val="8A9AB8"/>
                </a:solidFill>
                <a:latin typeface="jf open 粉圓 2.1"/>
              </a:rPr>
              <a:t>Ref: [7] Ke et al. (2017)  [8] Hamilton et al. (2017)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A54"/>
          </a:solidFill>
          <a:ln w="12700">
            <a:solidFill>
              <a:srgbClr val="021A54"/>
            </a:solidFill>
            <a:prstDash val="solid"/>
          </a:ln>
        </p:spPr>
        <p:txBody>
          <a:bodyPr/>
          <a:lstStyle/>
          <a:p>
            <a:endParaRPr lang="zh-TW" altLang="en-US"/>
          </a:p>
        </p:txBody>
      </p:sp>
      <p:sp>
        <p:nvSpPr>
          <p:cNvPr id="3" name="Text 1"/>
          <p:cNvSpPr/>
          <p:nvPr/>
        </p:nvSpPr>
        <p:spPr>
          <a:xfrm>
            <a:off x="457200" y="0"/>
            <a:ext cx="8412480" cy="658368"/>
          </a:xfrm>
          <a:prstGeom prst="rect">
            <a:avLst/>
          </a:prstGeom>
          <a:noFill/>
          <a:ln/>
        </p:spPr>
        <p:txBody>
          <a:bodyPr wrap="square" lIns="0" tIns="0" rIns="0" bIns="0" rtlCol="0" anchor="ctr"/>
          <a:lstStyle/>
          <a:p>
            <a:pPr marL="0" indent="0">
              <a:buNone/>
            </a:pPr>
            <a:r>
              <a:rPr lang="en-US" sz="2100" b="1" dirty="0">
                <a:solidFill>
                  <a:srgbClr val="FFFFFF"/>
                </a:solidFill>
                <a:latin typeface="jf open 粉圓 2.1" pitchFamily="34" charset="0"/>
                <a:ea typeface="jf open 粉圓 2.1" pitchFamily="34" charset="-122"/>
                <a:cs typeface="jf open 粉圓 2.1" pitchFamily="34" charset="-120"/>
              </a:rPr>
              <a:t>核心發現</a:t>
            </a:r>
            <a:endParaRPr lang="en-US" sz="2100" dirty="0"/>
          </a:p>
        </p:txBody>
      </p:sp>
      <p:sp>
        <p:nvSpPr>
          <p:cNvPr id="4" name="Shape 2"/>
          <p:cNvSpPr/>
          <p:nvPr/>
        </p:nvSpPr>
        <p:spPr>
          <a:xfrm>
            <a:off x="320040" y="758952"/>
            <a:ext cx="8503920" cy="1325880"/>
          </a:xfrm>
          <a:prstGeom prst="roundRect">
            <a:avLst>
              <a:gd name="adj" fmla="val 6897"/>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5" name="Shape 3"/>
          <p:cNvSpPr/>
          <p:nvPr/>
        </p:nvSpPr>
        <p:spPr>
          <a:xfrm>
            <a:off x="402336" y="1170432"/>
            <a:ext cx="548640" cy="548640"/>
          </a:xfrm>
          <a:prstGeom prst="ellipse">
            <a:avLst/>
          </a:prstGeom>
          <a:solidFill>
            <a:srgbClr val="021A54"/>
          </a:solidFill>
          <a:ln w="12700">
            <a:noFill/>
            <a:prstDash val="solid"/>
          </a:ln>
        </p:spPr>
        <p:txBody>
          <a:bodyPr/>
          <a:lstStyle/>
          <a:p>
            <a:endParaRPr lang="zh-TW" altLang="en-US">
              <a:solidFill>
                <a:srgbClr val="021A54"/>
              </a:solidFill>
            </a:endParaRPr>
          </a:p>
        </p:txBody>
      </p:sp>
      <p:sp>
        <p:nvSpPr>
          <p:cNvPr id="6" name="Text 4"/>
          <p:cNvSpPr/>
          <p:nvPr/>
        </p:nvSpPr>
        <p:spPr>
          <a:xfrm>
            <a:off x="402336" y="117043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01</a:t>
            </a:r>
            <a:endParaRPr lang="en-US" sz="1700" dirty="0"/>
          </a:p>
        </p:txBody>
      </p:sp>
      <p:sp>
        <p:nvSpPr>
          <p:cNvPr id="7" name="Shape 5"/>
          <p:cNvSpPr/>
          <p:nvPr/>
        </p:nvSpPr>
        <p:spPr>
          <a:xfrm>
            <a:off x="1042416" y="850392"/>
            <a:ext cx="0" cy="1143000"/>
          </a:xfrm>
          <a:prstGeom prst="line">
            <a:avLst/>
          </a:prstGeom>
          <a:noFill/>
          <a:ln w="19050">
            <a:solidFill>
              <a:srgbClr val="FF85BB"/>
            </a:solidFill>
            <a:prstDash val="solid"/>
          </a:ln>
        </p:spPr>
        <p:txBody>
          <a:bodyPr/>
          <a:lstStyle/>
          <a:p>
            <a:endParaRPr lang="zh-TW" altLang="en-US"/>
          </a:p>
        </p:txBody>
      </p:sp>
      <p:sp>
        <p:nvSpPr>
          <p:cNvPr id="8" name="Text 6"/>
          <p:cNvSpPr/>
          <p:nvPr/>
        </p:nvSpPr>
        <p:spPr>
          <a:xfrm>
            <a:off x="1188720" y="83210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圖結構顯著提升觀看時長的排名預測</a:t>
            </a:r>
            <a:endParaRPr lang="en-US" sz="1300" dirty="0"/>
          </a:p>
        </p:txBody>
      </p:sp>
      <p:sp>
        <p:nvSpPr>
          <p:cNvPr id="10" name="Shape 8"/>
          <p:cNvSpPr>
            <a:spLocks noGrp="1" noRot="1" noMove="1" noResize="1" noEditPoints="1" noAdjustHandles="1" noChangeArrowheads="1" noChangeShapeType="1"/>
          </p:cNvSpPr>
          <p:nvPr/>
        </p:nvSpPr>
        <p:spPr>
          <a:xfrm>
            <a:off x="320040" y="2176272"/>
            <a:ext cx="8503920" cy="1325880"/>
          </a:xfrm>
          <a:prstGeom prst="roundRect">
            <a:avLst>
              <a:gd name="adj" fmla="val 6897"/>
            </a:avLst>
          </a:prstGeom>
          <a:solidFill>
            <a:srgbClr val="FFFFFF"/>
          </a:solidFill>
          <a:ln w="19050">
            <a:solidFill>
              <a:srgbClr val="FFCEE3"/>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1" name="Shape 9"/>
          <p:cNvSpPr/>
          <p:nvPr/>
        </p:nvSpPr>
        <p:spPr>
          <a:xfrm>
            <a:off x="402336" y="2587752"/>
            <a:ext cx="548640" cy="548640"/>
          </a:xfrm>
          <a:prstGeom prst="ellipse">
            <a:avLst/>
          </a:prstGeom>
          <a:solidFill>
            <a:srgbClr val="021A54"/>
          </a:solidFill>
          <a:ln w="12700">
            <a:solidFill>
              <a:srgbClr val="021A54"/>
            </a:solidFill>
            <a:prstDash val="solid"/>
          </a:ln>
        </p:spPr>
        <p:txBody>
          <a:bodyPr/>
          <a:lstStyle/>
          <a:p>
            <a:endParaRPr lang="zh-TW" altLang="en-US"/>
          </a:p>
        </p:txBody>
      </p:sp>
      <p:sp>
        <p:nvSpPr>
          <p:cNvPr id="12" name="Text 10"/>
          <p:cNvSpPr/>
          <p:nvPr/>
        </p:nvSpPr>
        <p:spPr>
          <a:xfrm>
            <a:off x="402336" y="258775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02</a:t>
            </a:r>
            <a:endParaRPr lang="en-US" sz="1700" dirty="0"/>
          </a:p>
        </p:txBody>
      </p:sp>
      <p:sp>
        <p:nvSpPr>
          <p:cNvPr id="13" name="Shape 11"/>
          <p:cNvSpPr/>
          <p:nvPr/>
        </p:nvSpPr>
        <p:spPr>
          <a:xfrm>
            <a:off x="1042416" y="2267712"/>
            <a:ext cx="0" cy="1143000"/>
          </a:xfrm>
          <a:prstGeom prst="line">
            <a:avLst/>
          </a:prstGeom>
          <a:noFill/>
          <a:ln w="19050">
            <a:solidFill>
              <a:srgbClr val="FFCEE3"/>
            </a:solidFill>
            <a:prstDash val="solid"/>
          </a:ln>
        </p:spPr>
        <p:txBody>
          <a:bodyPr/>
          <a:lstStyle/>
          <a:p>
            <a:endParaRPr lang="zh-TW" altLang="en-US"/>
          </a:p>
        </p:txBody>
      </p:sp>
      <p:sp>
        <p:nvSpPr>
          <p:cNvPr id="14" name="Text 12"/>
          <p:cNvSpPr/>
          <p:nvPr/>
        </p:nvSpPr>
        <p:spPr>
          <a:xfrm>
            <a:off x="1188720" y="224942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Rate 指標的可預測性受到零膨脹分佈的根本限制</a:t>
            </a:r>
            <a:endParaRPr lang="en-US" sz="1300" dirty="0"/>
          </a:p>
        </p:txBody>
      </p:sp>
      <p:sp>
        <p:nvSpPr>
          <p:cNvPr id="16" name="Shape 14"/>
          <p:cNvSpPr>
            <a:spLocks noGrp="1" noRot="1" noMove="1" noResize="1" noEditPoints="1" noAdjustHandles="1" noChangeArrowheads="1" noChangeShapeType="1"/>
          </p:cNvSpPr>
          <p:nvPr/>
        </p:nvSpPr>
        <p:spPr>
          <a:xfrm>
            <a:off x="320040" y="3593592"/>
            <a:ext cx="8503920" cy="1325880"/>
          </a:xfrm>
          <a:prstGeom prst="roundRect">
            <a:avLst>
              <a:gd name="adj" fmla="val 6897"/>
            </a:avLst>
          </a:prstGeom>
          <a:solidFill>
            <a:srgbClr val="FFCEE3"/>
          </a:solidFill>
          <a:ln w="19050">
            <a:solidFill>
              <a:srgbClr val="FF85BB"/>
            </a:solidFill>
            <a:prstDash val="solid"/>
          </a:ln>
          <a:effectLst>
            <a:outerShdw blurRad="127000" dist="25400" dir="8100000" algn="bl" rotWithShape="0">
              <a:srgbClr val="000000">
                <a:alpha val="8000"/>
              </a:srgbClr>
            </a:outerShdw>
          </a:effectLst>
        </p:spPr>
        <p:txBody>
          <a:bodyPr/>
          <a:lstStyle/>
          <a:p>
            <a:endParaRPr lang="zh-TW" altLang="en-US"/>
          </a:p>
        </p:txBody>
      </p:sp>
      <p:sp>
        <p:nvSpPr>
          <p:cNvPr id="17" name="Shape 15"/>
          <p:cNvSpPr/>
          <p:nvPr/>
        </p:nvSpPr>
        <p:spPr>
          <a:xfrm>
            <a:off x="402336" y="4005072"/>
            <a:ext cx="548640" cy="548640"/>
          </a:xfrm>
          <a:prstGeom prst="ellipse">
            <a:avLst/>
          </a:prstGeom>
          <a:solidFill>
            <a:srgbClr val="021A54"/>
          </a:solidFill>
          <a:ln w="12700">
            <a:solidFill>
              <a:srgbClr val="021A54"/>
            </a:solidFill>
            <a:prstDash val="solid"/>
          </a:ln>
        </p:spPr>
        <p:txBody>
          <a:bodyPr/>
          <a:lstStyle/>
          <a:p>
            <a:endParaRPr lang="zh-TW" altLang="en-US"/>
          </a:p>
        </p:txBody>
      </p:sp>
      <p:sp>
        <p:nvSpPr>
          <p:cNvPr id="18" name="Text 16"/>
          <p:cNvSpPr/>
          <p:nvPr/>
        </p:nvSpPr>
        <p:spPr>
          <a:xfrm>
            <a:off x="402336" y="4005072"/>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jf open 粉圓 2.1" pitchFamily="34" charset="0"/>
                <a:ea typeface="jf open 粉圓 2.1" pitchFamily="34" charset="-122"/>
                <a:cs typeface="jf open 粉圓 2.1" pitchFamily="34" charset="-120"/>
              </a:rPr>
              <a:t>03</a:t>
            </a:r>
            <a:endParaRPr lang="en-US" sz="1700" dirty="0"/>
          </a:p>
        </p:txBody>
      </p:sp>
      <p:sp>
        <p:nvSpPr>
          <p:cNvPr id="19" name="Shape 17"/>
          <p:cNvSpPr/>
          <p:nvPr/>
        </p:nvSpPr>
        <p:spPr>
          <a:xfrm>
            <a:off x="1042416" y="3685032"/>
            <a:ext cx="0" cy="1143000"/>
          </a:xfrm>
          <a:prstGeom prst="line">
            <a:avLst/>
          </a:prstGeom>
          <a:noFill/>
          <a:ln w="19050">
            <a:solidFill>
              <a:srgbClr val="FFCEE3"/>
            </a:solidFill>
            <a:prstDash val="solid"/>
          </a:ln>
        </p:spPr>
        <p:txBody>
          <a:bodyPr/>
          <a:lstStyle/>
          <a:p>
            <a:endParaRPr lang="zh-TW" altLang="en-US"/>
          </a:p>
        </p:txBody>
      </p:sp>
      <p:sp>
        <p:nvSpPr>
          <p:cNvPr id="28" name="矩形 27">
            <a:extLst>
              <a:ext uri="{FF2B5EF4-FFF2-40B4-BE49-F238E27FC236}">
                <a16:creationId xmlns:a16="http://schemas.microsoft.com/office/drawing/2014/main" id="{426A128E-14B5-8BE4-7F59-6BB7C67DEC90}"/>
              </a:ext>
            </a:extLst>
          </p:cNvPr>
          <p:cNvSpPr/>
          <p:nvPr/>
        </p:nvSpPr>
        <p:spPr>
          <a:xfrm>
            <a:off x="1317603" y="4102978"/>
            <a:ext cx="5409767"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Text 18"/>
          <p:cNvSpPr/>
          <p:nvPr/>
        </p:nvSpPr>
        <p:spPr>
          <a:xfrm>
            <a:off x="1188720" y="3666744"/>
            <a:ext cx="7452360" cy="301752"/>
          </a:xfrm>
          <a:prstGeom prst="rect">
            <a:avLst/>
          </a:prstGeom>
          <a:noFill/>
          <a:ln/>
        </p:spPr>
        <p:txBody>
          <a:bodyPr wrap="square" rtlCol="0" anchor="ctr"/>
          <a:lstStyle/>
          <a:p>
            <a:pPr marL="0" indent="0">
              <a:buNone/>
            </a:pPr>
            <a:r>
              <a:rPr lang="en-US" sz="1300" b="1" dirty="0">
                <a:solidFill>
                  <a:srgbClr val="021A54"/>
                </a:solidFill>
                <a:latin typeface="jf open 粉圓 2.1" pitchFamily="34" charset="0"/>
                <a:ea typeface="jf open 粉圓 2.1" pitchFamily="34" charset="-122"/>
                <a:cs typeface="jf open 粉圓 2.1" pitchFamily="34" charset="-120"/>
              </a:rPr>
              <a:t>Spearman 與 MAE 的矛盾揭示模型本質差異</a:t>
            </a:r>
            <a:endParaRPr lang="en-US" sz="1300" dirty="0"/>
          </a:p>
        </p:txBody>
      </p:sp>
      <p:sp>
        <p:nvSpPr>
          <p:cNvPr id="24" name="矩形 23">
            <a:extLst>
              <a:ext uri="{FF2B5EF4-FFF2-40B4-BE49-F238E27FC236}">
                <a16:creationId xmlns:a16="http://schemas.microsoft.com/office/drawing/2014/main" id="{FA7C8D17-6D34-B191-7E9F-21D1677C9BCD}"/>
              </a:ext>
            </a:extLst>
          </p:cNvPr>
          <p:cNvSpPr/>
          <p:nvPr/>
        </p:nvSpPr>
        <p:spPr>
          <a:xfrm>
            <a:off x="1251295" y="1263936"/>
            <a:ext cx="6622706" cy="13232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TextBox 21"/>
          <p:cNvSpPr txBox="1"/>
          <p:nvPr/>
        </p:nvSpPr>
        <p:spPr>
          <a:xfrm>
            <a:off x="320400" y="4946400"/>
            <a:ext cx="8503920" cy="201168"/>
          </a:xfrm>
          <a:prstGeom prst="rect">
            <a:avLst/>
          </a:prstGeom>
          <a:noFill/>
        </p:spPr>
        <p:txBody>
          <a:bodyPr wrap="none">
            <a:spAutoFit/>
          </a:bodyPr>
          <a:lstStyle/>
          <a:p>
            <a:r>
              <a:rPr sz="750" dirty="0">
                <a:solidFill>
                  <a:srgbClr val="8A9AB8"/>
                </a:solidFill>
                <a:latin typeface="jf open 粉圓 2.1"/>
              </a:rPr>
              <a:t>Ref: [7][8] — see References slide</a:t>
            </a:r>
          </a:p>
        </p:txBody>
      </p:sp>
      <p:sp>
        <p:nvSpPr>
          <p:cNvPr id="23" name="Shape 5">
            <a:extLst>
              <a:ext uri="{FF2B5EF4-FFF2-40B4-BE49-F238E27FC236}">
                <a16:creationId xmlns:a16="http://schemas.microsoft.com/office/drawing/2014/main" id="{00A20CDC-A188-9DA1-4E6B-8144713ABC88}"/>
              </a:ext>
            </a:extLst>
          </p:cNvPr>
          <p:cNvSpPr/>
          <p:nvPr/>
        </p:nvSpPr>
        <p:spPr>
          <a:xfrm>
            <a:off x="1042416" y="3685032"/>
            <a:ext cx="0" cy="1143000"/>
          </a:xfrm>
          <a:prstGeom prst="line">
            <a:avLst/>
          </a:prstGeom>
          <a:noFill/>
          <a:ln w="19050">
            <a:solidFill>
              <a:srgbClr val="FF85BB"/>
            </a:solidFill>
            <a:prstDash val="solid"/>
          </a:ln>
        </p:spPr>
        <p:txBody>
          <a:bodyPr/>
          <a:lstStyle/>
          <a:p>
            <a:endParaRPr lang="zh-TW" altLang="en-US"/>
          </a:p>
        </p:txBody>
      </p:sp>
      <p:sp>
        <p:nvSpPr>
          <p:cNvPr id="9" name="Text 7"/>
          <p:cNvSpPr>
            <a:spLocks noGrp="1" noRot="1" noMove="1" noResize="1" noEditPoints="1" noAdjustHandles="1" noChangeArrowheads="1" noChangeShapeType="1"/>
          </p:cNvSpPr>
          <p:nvPr/>
        </p:nvSpPr>
        <p:spPr>
          <a:xfrm>
            <a:off x="1188720" y="115214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mean_watch_time 的 Spearman 相關係數從 0.047（LightGBM）提升至 0.256（HeteroGNN），提升幅度達 5.5 倍。圖神經網路的訊息傳遞能有效地將「視覺風格相似影片的觀看時長」此一鄰域訊號融合進影片的表示向量中，支持了研究假說。</a:t>
            </a:r>
            <a:endParaRPr lang="en-US" sz="1200" dirty="0"/>
          </a:p>
        </p:txBody>
      </p:sp>
      <p:sp>
        <p:nvSpPr>
          <p:cNvPr id="25" name="矩形 24">
            <a:extLst>
              <a:ext uri="{FF2B5EF4-FFF2-40B4-BE49-F238E27FC236}">
                <a16:creationId xmlns:a16="http://schemas.microsoft.com/office/drawing/2014/main" id="{C6738041-95CA-C8F8-9C4F-E328AD2105C4}"/>
              </a:ext>
            </a:extLst>
          </p:cNvPr>
          <p:cNvSpPr/>
          <p:nvPr/>
        </p:nvSpPr>
        <p:spPr>
          <a:xfrm>
            <a:off x="1251295" y="2869469"/>
            <a:ext cx="2709682"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D4AD72C2-E742-681D-55D6-AA30E910D120}"/>
              </a:ext>
            </a:extLst>
          </p:cNvPr>
          <p:cNvSpPr/>
          <p:nvPr/>
        </p:nvSpPr>
        <p:spPr>
          <a:xfrm>
            <a:off x="1252377" y="2681086"/>
            <a:ext cx="7274182" cy="12129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Text 13"/>
          <p:cNvSpPr/>
          <p:nvPr/>
        </p:nvSpPr>
        <p:spPr>
          <a:xfrm>
            <a:off x="1188720" y="256946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7 個 rate 指標的 Spearman 對兩個模型而言都接近 0。以 like_rate 為例，84.6% 的影片按讚率為零，顯示此類目標存在明顯的零膨脹與長尾分佈。按讚、留言等行為亦易受曝光策略、社群擴散等外部因素影響，現有內容特徵與圖結構均無法完整捕捉這些因素。</a:t>
            </a:r>
            <a:endParaRPr lang="en-US" sz="1200" dirty="0"/>
          </a:p>
        </p:txBody>
      </p:sp>
      <p:sp>
        <p:nvSpPr>
          <p:cNvPr id="21" name="Text 19"/>
          <p:cNvSpPr/>
          <p:nvPr/>
        </p:nvSpPr>
        <p:spPr>
          <a:xfrm>
            <a:off x="1188720" y="3986784"/>
            <a:ext cx="7452360" cy="841248"/>
          </a:xfrm>
          <a:prstGeom prst="rect">
            <a:avLst/>
          </a:prstGeom>
          <a:noFill/>
          <a:ln/>
        </p:spPr>
        <p:txBody>
          <a:bodyPr wrap="square" rtlCol="0" anchor="t"/>
          <a:lstStyle/>
          <a:p>
            <a:pPr marL="0" indent="0">
              <a:buNone/>
            </a:pPr>
            <a:r>
              <a:rPr lang="en-US" sz="1200" dirty="0">
                <a:solidFill>
                  <a:srgbClr val="4F6082"/>
                </a:solidFill>
                <a:latin typeface="jf open 粉圓 2.1" pitchFamily="34" charset="0"/>
                <a:ea typeface="jf open 粉圓 2.1" pitchFamily="34" charset="-122"/>
                <a:cs typeface="jf open 粉圓 2.1" pitchFamily="34" charset="-120"/>
              </a:rPr>
              <a:t>HeteroGNN 的 mean_watch_time MAE 遠高於 LightGBM（386 秒 vs 24 秒），但 Spearman 遠優（0.256 vs 0.047）。LightGBM 傾向預測接近平均值的保守估計（MAE 小但排名無力）；HeteroGNN 排名能力強，但 embedding 尚未精確校準到真實秒數（排名正確但絕對值偏大）。</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A54"/>
        </a:solidFill>
        <a:effectLst/>
      </p:bgPr>
    </p:bg>
    <p:spTree>
      <p:nvGrpSpPr>
        <p:cNvPr id="1" name=""/>
        <p:cNvGrpSpPr/>
        <p:nvPr/>
      </p:nvGrpSpPr>
      <p:grpSpPr>
        <a:xfrm>
          <a:off x="0" y="0"/>
          <a:ext cx="0" cy="0"/>
          <a:chOff x="0" y="0"/>
          <a:chExt cx="0" cy="0"/>
        </a:xfrm>
      </p:grpSpPr>
      <p:sp>
        <p:nvSpPr>
          <p:cNvPr id="2" name="Shape 0"/>
          <p:cNvSpPr/>
          <p:nvPr/>
        </p:nvSpPr>
        <p:spPr>
          <a:xfrm>
            <a:off x="6172200" y="-621792"/>
            <a:ext cx="5029200" cy="5029200"/>
          </a:xfrm>
          <a:prstGeom prst="ellipse">
            <a:avLst/>
          </a:prstGeom>
          <a:solidFill>
            <a:srgbClr val="FF85BB">
              <a:alpha val="15000"/>
            </a:srgbClr>
          </a:solidFill>
          <a:ln w="12700">
            <a:solidFill>
              <a:srgbClr val="FF85BB">
                <a:alpha val="15000"/>
              </a:srgbClr>
            </a:solidFill>
            <a:prstDash val="solid"/>
          </a:ln>
        </p:spPr>
        <p:txBody>
          <a:bodyPr/>
          <a:lstStyle/>
          <a:p>
            <a:endParaRPr lang="zh-TW" altLang="en-US"/>
          </a:p>
        </p:txBody>
      </p:sp>
      <p:sp>
        <p:nvSpPr>
          <p:cNvPr id="3" name="Shape 1"/>
          <p:cNvSpPr/>
          <p:nvPr/>
        </p:nvSpPr>
        <p:spPr>
          <a:xfrm>
            <a:off x="-1508760" y="2903220"/>
            <a:ext cx="4114800" cy="4114800"/>
          </a:xfrm>
          <a:prstGeom prst="ellipse">
            <a:avLst/>
          </a:prstGeom>
          <a:solidFill>
            <a:srgbClr val="FFCEE3">
              <a:alpha val="12000"/>
            </a:srgbClr>
          </a:solidFill>
          <a:ln w="12700">
            <a:solidFill>
              <a:srgbClr val="FFCEE3">
                <a:alpha val="12000"/>
              </a:srgbClr>
            </a:solidFill>
            <a:prstDash val="solid"/>
          </a:ln>
        </p:spPr>
        <p:txBody>
          <a:bodyPr/>
          <a:lstStyle/>
          <a:p>
            <a:endParaRPr lang="zh-TW" altLang="en-US"/>
          </a:p>
        </p:txBody>
      </p:sp>
      <p:sp>
        <p:nvSpPr>
          <p:cNvPr id="4" name="Text 2"/>
          <p:cNvSpPr/>
          <p:nvPr/>
        </p:nvSpPr>
        <p:spPr>
          <a:xfrm>
            <a:off x="548640" y="182880"/>
            <a:ext cx="7772400" cy="594360"/>
          </a:xfrm>
          <a:prstGeom prst="rect">
            <a:avLst/>
          </a:prstGeom>
          <a:noFill/>
          <a:ln/>
        </p:spPr>
        <p:txBody>
          <a:bodyPr wrap="square" rtlCol="0" anchor="ctr"/>
          <a:lstStyle/>
          <a:p>
            <a:pPr marL="0" indent="0">
              <a:buNone/>
            </a:pPr>
            <a:r>
              <a:rPr lang="en-US" sz="3400" b="1" dirty="0" err="1">
                <a:solidFill>
                  <a:srgbClr val="F5F5F5"/>
                </a:solidFill>
                <a:latin typeface="jf open 粉圓 2.1" pitchFamily="34" charset="0"/>
                <a:ea typeface="jf open 粉圓 2.1" pitchFamily="34" charset="-122"/>
              </a:rPr>
              <a:t>結論</a:t>
            </a:r>
            <a:endParaRPr lang="en-US" sz="3400" b="1" dirty="0">
              <a:solidFill>
                <a:srgbClr val="F5F5F5"/>
              </a:solidFill>
              <a:latin typeface="jf open 粉圓 2.1" pitchFamily="34" charset="0"/>
              <a:ea typeface="jf open 粉圓 2.1" pitchFamily="34" charset="-122"/>
            </a:endParaRPr>
          </a:p>
        </p:txBody>
      </p:sp>
      <p:sp>
        <p:nvSpPr>
          <p:cNvPr id="5" name="Shape 3"/>
          <p:cNvSpPr/>
          <p:nvPr/>
        </p:nvSpPr>
        <p:spPr>
          <a:xfrm>
            <a:off x="548640" y="822960"/>
            <a:ext cx="8046720" cy="0"/>
          </a:xfrm>
          <a:prstGeom prst="line">
            <a:avLst/>
          </a:prstGeom>
          <a:noFill/>
          <a:ln w="19050">
            <a:solidFill>
              <a:srgbClr val="0D2E6E"/>
            </a:solidFill>
            <a:prstDash val="solid"/>
          </a:ln>
        </p:spPr>
        <p:txBody>
          <a:bodyPr/>
          <a:lstStyle/>
          <a:p>
            <a:endParaRPr lang="zh-TW" altLang="en-US"/>
          </a:p>
        </p:txBody>
      </p:sp>
      <p:sp>
        <p:nvSpPr>
          <p:cNvPr id="6" name="Shape 4"/>
          <p:cNvSpPr/>
          <p:nvPr/>
        </p:nvSpPr>
        <p:spPr>
          <a:xfrm>
            <a:off x="457200" y="1115568"/>
            <a:ext cx="420624" cy="420624"/>
          </a:xfrm>
          <a:prstGeom prst="ellipse">
            <a:avLst/>
          </a:prstGeom>
          <a:solidFill>
            <a:srgbClr val="FF85BB"/>
          </a:solidFill>
          <a:ln w="12700">
            <a:solidFill>
              <a:srgbClr val="FF85BB"/>
            </a:solidFill>
            <a:prstDash val="solid"/>
          </a:ln>
        </p:spPr>
        <p:txBody>
          <a:bodyPr/>
          <a:lstStyle/>
          <a:p>
            <a:endParaRPr lang="zh-TW" altLang="en-US"/>
          </a:p>
        </p:txBody>
      </p:sp>
      <p:sp>
        <p:nvSpPr>
          <p:cNvPr id="7" name="Text 5"/>
          <p:cNvSpPr/>
          <p:nvPr/>
        </p:nvSpPr>
        <p:spPr>
          <a:xfrm>
            <a:off x="457200" y="1115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1</a:t>
            </a:r>
            <a:endParaRPr lang="en-US" sz="1400" dirty="0"/>
          </a:p>
        </p:txBody>
      </p:sp>
      <p:sp>
        <p:nvSpPr>
          <p:cNvPr id="8" name="Text 6"/>
          <p:cNvSpPr/>
          <p:nvPr/>
        </p:nvSpPr>
        <p:spPr>
          <a:xfrm>
            <a:off x="1024128" y="914400"/>
            <a:ext cx="7818120" cy="886968"/>
          </a:xfrm>
          <a:prstGeom prst="rect">
            <a:avLst/>
          </a:prstGeom>
          <a:noFill/>
          <a:ln/>
        </p:spPr>
        <p:txBody>
          <a:bodyPr wrap="square" rtlCol="0" anchor="ctr"/>
          <a:lstStyle/>
          <a:p>
            <a:pPr marL="0" indent="0">
              <a:buNone/>
            </a:pPr>
            <a:r>
              <a:rPr lang="en-US" sz="1300" b="1" dirty="0" err="1">
                <a:solidFill>
                  <a:schemeClr val="bg1"/>
                </a:solidFill>
                <a:latin typeface="jf open 粉圓 2.1" pitchFamily="34" charset="0"/>
                <a:ea typeface="jf open 粉圓 2.1" pitchFamily="34" charset="-122"/>
                <a:cs typeface="jf open 粉圓 2.1" pitchFamily="34" charset="-120"/>
              </a:rPr>
              <a:t>以影片為中心的異質圖神經網路在無使用者互動歷史的上架前表現預測上，mean_watch_time</a:t>
            </a:r>
            <a:r>
              <a:rPr lang="en-US" sz="1300" b="1" dirty="0">
                <a:solidFill>
                  <a:schemeClr val="bg1"/>
                </a:solidFill>
                <a:latin typeface="jf open 粉圓 2.1" pitchFamily="34" charset="0"/>
                <a:ea typeface="jf open 粉圓 2.1" pitchFamily="34" charset="-122"/>
                <a:cs typeface="jf open 粉圓 2.1" pitchFamily="34" charset="-120"/>
              </a:rPr>
              <a:t> 的 Spearman 排名相關係數達 0.256，是非圖基準 LightGBM（0.047）的 5.5 倍，證明</a:t>
            </a:r>
            <a:r>
              <a:rPr lang="en-US" sz="1300" b="1" dirty="0">
                <a:solidFill>
                  <a:srgbClr val="FFCEE3"/>
                </a:solidFill>
                <a:latin typeface="jf open 粉圓 2.1" pitchFamily="34" charset="0"/>
                <a:ea typeface="jf open 粉圓 2.1" pitchFamily="34" charset="-122"/>
                <a:cs typeface="jf open 粉圓 2.1" pitchFamily="34" charset="-120"/>
              </a:rPr>
              <a:t>圖鄰域訊號的實質效益</a:t>
            </a:r>
            <a:r>
              <a:rPr lang="en-US" sz="1300" b="1" dirty="0">
                <a:solidFill>
                  <a:schemeClr val="bg1"/>
                </a:solidFill>
                <a:latin typeface="jf open 粉圓 2.1" pitchFamily="34" charset="0"/>
                <a:ea typeface="jf open 粉圓 2.1" pitchFamily="34" charset="-122"/>
                <a:cs typeface="jf open 粉圓 2.1" pitchFamily="34" charset="-120"/>
              </a:rPr>
              <a:t>。</a:t>
            </a:r>
            <a:endParaRPr lang="en-US" sz="1300" dirty="0">
              <a:solidFill>
                <a:schemeClr val="bg1"/>
              </a:solidFill>
            </a:endParaRPr>
          </a:p>
        </p:txBody>
      </p:sp>
      <p:sp>
        <p:nvSpPr>
          <p:cNvPr id="9" name="Shape 7"/>
          <p:cNvSpPr/>
          <p:nvPr/>
        </p:nvSpPr>
        <p:spPr>
          <a:xfrm>
            <a:off x="457200" y="2093976"/>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0" name="Text 8"/>
          <p:cNvSpPr/>
          <p:nvPr/>
        </p:nvSpPr>
        <p:spPr>
          <a:xfrm>
            <a:off x="457200" y="20939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2</a:t>
            </a:r>
            <a:endParaRPr lang="en-US" sz="1400" dirty="0"/>
          </a:p>
        </p:txBody>
      </p:sp>
      <p:sp>
        <p:nvSpPr>
          <p:cNvPr id="11" name="Text 9"/>
          <p:cNvSpPr/>
          <p:nvPr/>
        </p:nvSpPr>
        <p:spPr>
          <a:xfrm>
            <a:off x="1024128" y="1892808"/>
            <a:ext cx="7818120" cy="886968"/>
          </a:xfrm>
          <a:prstGeom prst="rect">
            <a:avLst/>
          </a:prstGeom>
          <a:noFill/>
          <a:ln/>
        </p:spPr>
        <p:txBody>
          <a:bodyPr wrap="square" rtlCol="0" anchor="ctr"/>
          <a:lstStyle/>
          <a:p>
            <a:pPr marL="0" indent="0">
              <a:buNone/>
            </a:pPr>
            <a:r>
              <a:rPr lang="en-US" sz="1300" b="1" dirty="0">
                <a:solidFill>
                  <a:schemeClr val="bg1"/>
                </a:solidFill>
                <a:latin typeface="jf open 粉圓 2.1" pitchFamily="34" charset="0"/>
                <a:ea typeface="jf open 粉圓 2.1" pitchFamily="34" charset="-122"/>
              </a:rPr>
              <a:t>similar_to </a:t>
            </a:r>
            <a:r>
              <a:rPr lang="en-US" sz="1300" b="1" dirty="0" err="1">
                <a:solidFill>
                  <a:schemeClr val="bg1"/>
                </a:solidFill>
                <a:latin typeface="jf open 粉圓 2.1" pitchFamily="34" charset="0"/>
                <a:ea typeface="jf open 粉圓 2.1" pitchFamily="34" charset="-122"/>
              </a:rPr>
              <a:t>邊（cosine</a:t>
            </a:r>
            <a:r>
              <a:rPr lang="en-US" sz="1300" b="1" dirty="0">
                <a:solidFill>
                  <a:schemeClr val="bg1"/>
                </a:solidFill>
                <a:latin typeface="jf open 粉圓 2.1" pitchFamily="34" charset="0"/>
                <a:ea typeface="jf open 粉圓 2.1" pitchFamily="34" charset="-122"/>
              </a:rPr>
              <a:t> </a:t>
            </a:r>
            <a:r>
              <a:rPr lang="en-US" sz="1300" b="1" dirty="0" err="1">
                <a:solidFill>
                  <a:schemeClr val="bg1"/>
                </a:solidFill>
                <a:latin typeface="jf open 粉圓 2.1" pitchFamily="34" charset="0"/>
                <a:ea typeface="jf open 粉圓 2.1" pitchFamily="34" charset="-122"/>
              </a:rPr>
              <a:t>kNN）讓即使沒有互動記錄的新影片也能接入圖中，</a:t>
            </a:r>
            <a:r>
              <a:rPr lang="en-US" sz="1300" b="1" dirty="0" err="1">
                <a:solidFill>
                  <a:srgbClr val="FFCEE3"/>
                </a:solidFill>
                <a:latin typeface="jf open 粉圓 2.1" pitchFamily="34" charset="0"/>
                <a:ea typeface="jf open 粉圓 2.1" pitchFamily="34" charset="-122"/>
              </a:rPr>
              <a:t>有效解決冷啟動問題</a:t>
            </a:r>
            <a:r>
              <a:rPr lang="en-US" sz="1300" b="1" dirty="0" err="1">
                <a:solidFill>
                  <a:schemeClr val="bg1"/>
                </a:solidFill>
                <a:latin typeface="jf open 粉圓 2.1" pitchFamily="34" charset="0"/>
                <a:ea typeface="jf open 粉圓 2.1" pitchFamily="34" charset="-122"/>
              </a:rPr>
              <a:t>，是本研究能超越基準的關鍵設計</a:t>
            </a:r>
            <a:r>
              <a:rPr lang="en-US" sz="1300" b="1" dirty="0">
                <a:solidFill>
                  <a:schemeClr val="bg1"/>
                </a:solidFill>
                <a:latin typeface="jf open 粉圓 2.1" pitchFamily="34" charset="0"/>
                <a:ea typeface="jf open 粉圓 2.1" pitchFamily="34" charset="-122"/>
              </a:rPr>
              <a:t>。</a:t>
            </a:r>
          </a:p>
        </p:txBody>
      </p:sp>
      <p:sp>
        <p:nvSpPr>
          <p:cNvPr id="12" name="Shape 10"/>
          <p:cNvSpPr/>
          <p:nvPr/>
        </p:nvSpPr>
        <p:spPr>
          <a:xfrm>
            <a:off x="457200" y="3072384"/>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3" name="Text 11"/>
          <p:cNvSpPr/>
          <p:nvPr/>
        </p:nvSpPr>
        <p:spPr>
          <a:xfrm>
            <a:off x="457200" y="30723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3</a:t>
            </a:r>
            <a:endParaRPr lang="en-US" sz="1400" dirty="0"/>
          </a:p>
        </p:txBody>
      </p:sp>
      <p:sp>
        <p:nvSpPr>
          <p:cNvPr id="14" name="Text 12"/>
          <p:cNvSpPr/>
          <p:nvPr/>
        </p:nvSpPr>
        <p:spPr>
          <a:xfrm>
            <a:off x="1024128" y="2871216"/>
            <a:ext cx="7818120" cy="886968"/>
          </a:xfrm>
          <a:prstGeom prst="rect">
            <a:avLst/>
          </a:prstGeom>
          <a:noFill/>
          <a:ln/>
        </p:spPr>
        <p:txBody>
          <a:bodyPr wrap="square" rtlCol="0" anchor="ctr"/>
          <a:lstStyle/>
          <a:p>
            <a:r>
              <a:rPr lang="en-US" sz="1300" b="1" dirty="0">
                <a:solidFill>
                  <a:srgbClr val="FFCEE3"/>
                </a:solidFill>
                <a:latin typeface="jf open 粉圓 2.1" pitchFamily="34" charset="0"/>
                <a:ea typeface="jf open 粉圓 2.1" pitchFamily="34" charset="-122"/>
              </a:rPr>
              <a:t>Rate </a:t>
            </a:r>
            <a:r>
              <a:rPr lang="en-US" sz="1300" b="1" dirty="0" err="1">
                <a:solidFill>
                  <a:srgbClr val="FFCEE3"/>
                </a:solidFill>
                <a:latin typeface="jf open 粉圓 2.1" pitchFamily="34" charset="0"/>
                <a:ea typeface="jf open 粉圓 2.1" pitchFamily="34" charset="-122"/>
              </a:rPr>
              <a:t>指標（按讚、留言等）受零膨脹分佈根本性限制</a:t>
            </a:r>
            <a:r>
              <a:rPr lang="en-US" sz="1300" b="1" dirty="0" err="1">
                <a:solidFill>
                  <a:schemeClr val="bg1"/>
                </a:solidFill>
                <a:latin typeface="jf open 粉圓 2.1" pitchFamily="34" charset="0"/>
                <a:ea typeface="jf open 粉圓 2.1" pitchFamily="34" charset="-122"/>
              </a:rPr>
              <a:t>，值得未來研究針對稀疏二元目標進行專項設</a:t>
            </a:r>
            <a:r>
              <a:rPr lang="en-US" sz="1300" b="1" dirty="0">
                <a:solidFill>
                  <a:schemeClr val="bg1"/>
                </a:solidFill>
                <a:latin typeface="jf open 粉圓 2.1" pitchFamily="34" charset="0"/>
                <a:ea typeface="jf open 粉圓 2.1" pitchFamily="34" charset="-122"/>
              </a:rPr>
              <a:t>。</a:t>
            </a:r>
          </a:p>
        </p:txBody>
      </p:sp>
      <p:sp>
        <p:nvSpPr>
          <p:cNvPr id="15" name="Shape 13"/>
          <p:cNvSpPr/>
          <p:nvPr/>
        </p:nvSpPr>
        <p:spPr>
          <a:xfrm>
            <a:off x="457200" y="4050792"/>
            <a:ext cx="420624" cy="420624"/>
          </a:xfrm>
          <a:prstGeom prst="ellipse">
            <a:avLst/>
          </a:prstGeom>
          <a:solidFill>
            <a:srgbClr val="0D2E6E"/>
          </a:solidFill>
          <a:ln w="12700">
            <a:solidFill>
              <a:srgbClr val="0D2E6E"/>
            </a:solidFill>
            <a:prstDash val="solid"/>
          </a:ln>
        </p:spPr>
        <p:txBody>
          <a:bodyPr/>
          <a:lstStyle/>
          <a:p>
            <a:endParaRPr lang="zh-TW" altLang="en-US"/>
          </a:p>
        </p:txBody>
      </p:sp>
      <p:sp>
        <p:nvSpPr>
          <p:cNvPr id="16" name="Text 14"/>
          <p:cNvSpPr/>
          <p:nvPr/>
        </p:nvSpPr>
        <p:spPr>
          <a:xfrm>
            <a:off x="457200" y="40507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jf open 粉圓 2.1" pitchFamily="34" charset="0"/>
                <a:ea typeface="jf open 粉圓 2.1" pitchFamily="34" charset="-122"/>
                <a:cs typeface="jf open 粉圓 2.1" pitchFamily="34" charset="-120"/>
              </a:rPr>
              <a:t>4</a:t>
            </a:r>
            <a:endParaRPr lang="en-US" sz="1400" dirty="0"/>
          </a:p>
        </p:txBody>
      </p:sp>
      <p:sp>
        <p:nvSpPr>
          <p:cNvPr id="17" name="Text 15"/>
          <p:cNvSpPr/>
          <p:nvPr/>
        </p:nvSpPr>
        <p:spPr>
          <a:xfrm>
            <a:off x="1024128" y="3849624"/>
            <a:ext cx="7818120" cy="886968"/>
          </a:xfrm>
          <a:prstGeom prst="rect">
            <a:avLst/>
          </a:prstGeom>
          <a:noFill/>
          <a:ln/>
        </p:spPr>
        <p:txBody>
          <a:bodyPr wrap="square" rtlCol="0" anchor="ctr"/>
          <a:lstStyle/>
          <a:p>
            <a:pPr indent="0">
              <a:buNone/>
            </a:pPr>
            <a:r>
              <a:rPr lang="en-US" sz="1300" b="1" dirty="0">
                <a:solidFill>
                  <a:schemeClr val="bg1"/>
                </a:solidFill>
                <a:latin typeface="jf open 粉圓 2.1" pitchFamily="34" charset="0"/>
                <a:ea typeface="jf open 粉圓 2.1" pitchFamily="34" charset="-122"/>
              </a:rPr>
              <a:t>Spearman 高但 MAE 大的矛盾顯示 </a:t>
            </a:r>
            <a:r>
              <a:rPr lang="en-US" sz="1300" b="1" dirty="0">
                <a:solidFill>
                  <a:srgbClr val="FFCEE3"/>
                </a:solidFill>
                <a:latin typeface="jf open 粉圓 2.1" pitchFamily="34" charset="0"/>
                <a:ea typeface="jf open 粉圓 2.1" pitchFamily="34" charset="-122"/>
              </a:rPr>
              <a:t>embedding </a:t>
            </a:r>
            <a:r>
              <a:rPr lang="en-US" sz="1300" b="1" dirty="0" err="1">
                <a:solidFill>
                  <a:srgbClr val="FFCEE3"/>
                </a:solidFill>
                <a:latin typeface="jf open 粉圓 2.1" pitchFamily="34" charset="0"/>
                <a:ea typeface="jf open 粉圓 2.1" pitchFamily="34" charset="-122"/>
              </a:rPr>
              <a:t>尚未校準到真實秒數</a:t>
            </a:r>
            <a:r>
              <a:rPr lang="en-US" sz="1300" b="1" dirty="0" err="1">
                <a:solidFill>
                  <a:schemeClr val="bg1"/>
                </a:solidFill>
                <a:latin typeface="jf open 粉圓 2.1" pitchFamily="34" charset="0"/>
                <a:ea typeface="jf open 粉圓 2.1" pitchFamily="34" charset="-122"/>
              </a:rPr>
              <a:t>，未來可引入校準策略，同時保留排名能力並改善數值精確度</a:t>
            </a:r>
            <a:r>
              <a:rPr lang="en-US" sz="1300" b="1" dirty="0">
                <a:solidFill>
                  <a:schemeClr val="bg1"/>
                </a:solidFill>
                <a:latin typeface="jf open 粉圓 2.1" pitchFamily="34" charset="0"/>
                <a:ea typeface="jf open 粉圓 2.1" pitchFamily="34" charset="-122"/>
              </a:rPr>
              <a:t>。</a:t>
            </a:r>
          </a:p>
        </p:txBody>
      </p:sp>
      <p:sp>
        <p:nvSpPr>
          <p:cNvPr id="18" name="Shape 16"/>
          <p:cNvSpPr/>
          <p:nvPr/>
        </p:nvSpPr>
        <p:spPr>
          <a:xfrm>
            <a:off x="548640" y="4773168"/>
            <a:ext cx="8046720" cy="0"/>
          </a:xfrm>
          <a:prstGeom prst="line">
            <a:avLst/>
          </a:prstGeom>
          <a:noFill/>
          <a:ln w="12700">
            <a:solidFill>
              <a:srgbClr val="0D2E6E"/>
            </a:solidFill>
            <a:prstDash val="solid"/>
          </a:ln>
        </p:spPr>
        <p:txBody>
          <a:bodyPr/>
          <a:lstStyle/>
          <a:p>
            <a:endParaRPr lang="zh-TW" altLang="en-US"/>
          </a:p>
        </p:txBody>
      </p:sp>
      <p:sp>
        <p:nvSpPr>
          <p:cNvPr id="19" name="Text 17"/>
          <p:cNvSpPr/>
          <p:nvPr/>
        </p:nvSpPr>
        <p:spPr>
          <a:xfrm>
            <a:off x="548640" y="4809744"/>
            <a:ext cx="8046720" cy="256032"/>
          </a:xfrm>
          <a:prstGeom prst="rect">
            <a:avLst/>
          </a:prstGeom>
          <a:noFill/>
          <a:ln/>
        </p:spPr>
        <p:txBody>
          <a:bodyPr wrap="square" rtlCol="0" anchor="ctr"/>
          <a:lstStyle/>
          <a:p>
            <a:r>
              <a:rPr lang="en-US" sz="1050" dirty="0">
                <a:solidFill>
                  <a:schemeClr val="bg1">
                    <a:lumMod val="75000"/>
                  </a:schemeClr>
                </a:solidFill>
                <a:latin typeface="jf open 粉圓 2.1" pitchFamily="34" charset="0"/>
                <a:ea typeface="jf open 粉圓 2.1" pitchFamily="34" charset="-122"/>
              </a:rPr>
              <a:t>GNN 期末專案　·　財金所 羅頤　·　ShortVideo Dataset (WWW 2025)　·　HeteroGNN + GraphSAGE + </a:t>
            </a:r>
            <a:r>
              <a:rPr lang="en-US" sz="1050" dirty="0" err="1">
                <a:solidFill>
                  <a:schemeClr val="bg1">
                    <a:lumMod val="75000"/>
                  </a:schemeClr>
                </a:solidFill>
                <a:latin typeface="jf open 粉圓 2.1" pitchFamily="34" charset="0"/>
                <a:ea typeface="jf open 粉圓 2.1" pitchFamily="34" charset="-122"/>
              </a:rPr>
              <a:t>PyTorch</a:t>
            </a:r>
            <a:r>
              <a:rPr lang="en-US" sz="1050" dirty="0">
                <a:solidFill>
                  <a:schemeClr val="bg1">
                    <a:lumMod val="75000"/>
                  </a:schemeClr>
                </a:solidFill>
                <a:latin typeface="jf open 粉圓 2.1" pitchFamily="34" charset="0"/>
                <a:ea typeface="jf open 粉圓 2.1" pitchFamily="34" charset="-122"/>
              </a:rPr>
              <a:t> Geometric</a:t>
            </a:r>
          </a:p>
        </p:txBody>
      </p:sp>
      <p:sp>
        <p:nvSpPr>
          <p:cNvPr id="20" name="Shape 4">
            <a:extLst>
              <a:ext uri="{FF2B5EF4-FFF2-40B4-BE49-F238E27FC236}">
                <a16:creationId xmlns:a16="http://schemas.microsoft.com/office/drawing/2014/main" id="{7E56D7D4-2AAB-7F9B-1F2D-1906B88DDEF4}"/>
              </a:ext>
            </a:extLst>
          </p:cNvPr>
          <p:cNvSpPr/>
          <p:nvPr/>
        </p:nvSpPr>
        <p:spPr>
          <a:xfrm>
            <a:off x="457200" y="2093976"/>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2</a:t>
            </a:r>
            <a:endParaRPr lang="zh-TW" altLang="en-US" sz="1400" b="1" dirty="0">
              <a:solidFill>
                <a:srgbClr val="FFFFFF"/>
              </a:solidFill>
              <a:latin typeface="jf open 粉圓 2.1" pitchFamily="34" charset="0"/>
              <a:ea typeface="jf open 粉圓 2.1" pitchFamily="34" charset="-122"/>
            </a:endParaRPr>
          </a:p>
        </p:txBody>
      </p:sp>
      <p:sp>
        <p:nvSpPr>
          <p:cNvPr id="21" name="Shape 4">
            <a:extLst>
              <a:ext uri="{FF2B5EF4-FFF2-40B4-BE49-F238E27FC236}">
                <a16:creationId xmlns:a16="http://schemas.microsoft.com/office/drawing/2014/main" id="{5447DB11-E863-47CE-4378-AA6B69EB7586}"/>
              </a:ext>
            </a:extLst>
          </p:cNvPr>
          <p:cNvSpPr/>
          <p:nvPr/>
        </p:nvSpPr>
        <p:spPr>
          <a:xfrm>
            <a:off x="457200" y="3072384"/>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3</a:t>
            </a:r>
            <a:endParaRPr lang="zh-TW" altLang="en-US" sz="1400" b="1" dirty="0">
              <a:solidFill>
                <a:srgbClr val="FFFFFF"/>
              </a:solidFill>
              <a:latin typeface="jf open 粉圓 2.1" pitchFamily="34" charset="0"/>
              <a:ea typeface="jf open 粉圓 2.1" pitchFamily="34" charset="-122"/>
            </a:endParaRPr>
          </a:p>
        </p:txBody>
      </p:sp>
      <p:sp>
        <p:nvSpPr>
          <p:cNvPr id="22" name="Shape 4">
            <a:extLst>
              <a:ext uri="{FF2B5EF4-FFF2-40B4-BE49-F238E27FC236}">
                <a16:creationId xmlns:a16="http://schemas.microsoft.com/office/drawing/2014/main" id="{98E1ED5E-2921-32D2-2A5B-05A2D71AE8CD}"/>
              </a:ext>
            </a:extLst>
          </p:cNvPr>
          <p:cNvSpPr/>
          <p:nvPr/>
        </p:nvSpPr>
        <p:spPr>
          <a:xfrm>
            <a:off x="457200" y="4050792"/>
            <a:ext cx="420624" cy="420624"/>
          </a:xfrm>
          <a:prstGeom prst="ellipse">
            <a:avLst/>
          </a:prstGeom>
          <a:solidFill>
            <a:srgbClr val="FF85BB"/>
          </a:solidFill>
          <a:ln w="12700">
            <a:solidFill>
              <a:srgbClr val="FF85BB"/>
            </a:solidFill>
            <a:prstDash val="solid"/>
          </a:ln>
        </p:spPr>
        <p:txBody>
          <a:bodyPr/>
          <a:lstStyle/>
          <a:p>
            <a:r>
              <a:rPr lang="en-US" altLang="zh-TW" sz="1400" b="1" dirty="0">
                <a:solidFill>
                  <a:srgbClr val="FFFFFF"/>
                </a:solidFill>
                <a:latin typeface="jf open 粉圓 2.1" pitchFamily="34" charset="0"/>
                <a:ea typeface="jf open 粉圓 2.1" pitchFamily="34" charset="-122"/>
              </a:rPr>
              <a:t>4</a:t>
            </a:r>
            <a:endParaRPr lang="zh-TW" altLang="en-US" sz="1400" b="1" dirty="0">
              <a:solidFill>
                <a:srgbClr val="FFFFFF"/>
              </a:solidFill>
              <a:latin typeface="jf open 粉圓 2.1" pitchFamily="34" charset="0"/>
              <a:ea typeface="jf open 粉圓 2.1"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021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1435"/>
            <a:ext cx="1646605" cy="415498"/>
          </a:xfrm>
          <a:prstGeom prst="rect">
            <a:avLst/>
          </a:prstGeom>
          <a:noFill/>
        </p:spPr>
        <p:txBody>
          <a:bodyPr wrap="none" anchor="ctr">
            <a:spAutoFit/>
          </a:bodyPr>
          <a:lstStyle/>
          <a:p>
            <a:r>
              <a:rPr sz="2100" b="1" dirty="0">
                <a:solidFill>
                  <a:srgbClr val="FFFFFF"/>
                </a:solidFill>
                <a:latin typeface="jf open 粉圓 2.1"/>
              </a:rPr>
              <a:t>References</a:t>
            </a:r>
          </a:p>
        </p:txBody>
      </p:sp>
      <p:sp>
        <p:nvSpPr>
          <p:cNvPr id="4" name="Rounded Rectangle 3"/>
          <p:cNvSpPr>
            <a:spLocks/>
          </p:cNvSpPr>
          <p:nvPr/>
        </p:nvSpPr>
        <p:spPr>
          <a:xfrm>
            <a:off x="320040" y="75895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a:spLocks/>
          </p:cNvSpPr>
          <p:nvPr/>
        </p:nvSpPr>
        <p:spPr>
          <a:xfrm>
            <a:off x="393192" y="838012"/>
            <a:ext cx="3941064" cy="353943"/>
          </a:xfrm>
          <a:prstGeom prst="rect">
            <a:avLst/>
          </a:prstGeom>
          <a:noFill/>
        </p:spPr>
        <p:txBody>
          <a:bodyPr wrap="square" anchor="ctr">
            <a:spAutoFit/>
          </a:bodyPr>
          <a:lstStyle/>
          <a:p>
            <a:r>
              <a:rPr sz="850" b="1" dirty="0">
                <a:solidFill>
                  <a:srgbClr val="FF85BB"/>
                </a:solidFill>
                <a:latin typeface="jf open 粉圓 2.1"/>
              </a:rPr>
              <a:t>[1]  </a:t>
            </a:r>
            <a:r>
              <a:rPr sz="850" dirty="0">
                <a:solidFill>
                  <a:srgbClr val="021A54"/>
                </a:solidFill>
                <a:latin typeface="jf open 粉圓 2.1"/>
                <a:hlinkClick r:id="rId2"/>
              </a:rPr>
              <a:t>Rendle, S. et al. BPR: Bayesian Personalized Ranking from Implicit Feedback. UAI 2009.</a:t>
            </a:r>
          </a:p>
        </p:txBody>
      </p:sp>
      <p:sp>
        <p:nvSpPr>
          <p:cNvPr id="6" name="Rounded Rectangle 5"/>
          <p:cNvSpPr>
            <a:spLocks/>
          </p:cNvSpPr>
          <p:nvPr/>
        </p:nvSpPr>
        <p:spPr>
          <a:xfrm>
            <a:off x="4572000" y="75895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a:spLocks/>
          </p:cNvSpPr>
          <p:nvPr/>
        </p:nvSpPr>
        <p:spPr>
          <a:xfrm>
            <a:off x="4645152" y="838012"/>
            <a:ext cx="3941064" cy="353943"/>
          </a:xfrm>
          <a:prstGeom prst="rect">
            <a:avLst/>
          </a:prstGeom>
          <a:noFill/>
        </p:spPr>
        <p:txBody>
          <a:bodyPr wrap="square" anchor="ctr">
            <a:spAutoFit/>
          </a:bodyPr>
          <a:lstStyle/>
          <a:p>
            <a:r>
              <a:rPr sz="850" b="1" dirty="0">
                <a:solidFill>
                  <a:srgbClr val="FF85BB"/>
                </a:solidFill>
                <a:latin typeface="jf open 粉圓 2.1"/>
              </a:rPr>
              <a:t>[2]  </a:t>
            </a:r>
            <a:r>
              <a:rPr sz="850" dirty="0">
                <a:solidFill>
                  <a:srgbClr val="021A54"/>
                </a:solidFill>
                <a:latin typeface="jf open 粉圓 2.1"/>
                <a:hlinkClick r:id="rId3"/>
              </a:rPr>
              <a:t>He, X. et al. LightGCN: Simplifying and Powering Graph Convolution Network for Recommendation. SIGIR 2020.</a:t>
            </a:r>
          </a:p>
        </p:txBody>
      </p:sp>
      <p:sp>
        <p:nvSpPr>
          <p:cNvPr id="8" name="Rounded Rectangle 7"/>
          <p:cNvSpPr>
            <a:spLocks/>
          </p:cNvSpPr>
          <p:nvPr/>
        </p:nvSpPr>
        <p:spPr>
          <a:xfrm>
            <a:off x="320040" y="130759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a:spLocks/>
          </p:cNvSpPr>
          <p:nvPr/>
        </p:nvSpPr>
        <p:spPr>
          <a:xfrm>
            <a:off x="393192" y="1386652"/>
            <a:ext cx="3941064" cy="353943"/>
          </a:xfrm>
          <a:prstGeom prst="rect">
            <a:avLst/>
          </a:prstGeom>
          <a:noFill/>
        </p:spPr>
        <p:txBody>
          <a:bodyPr wrap="square" anchor="ctr">
            <a:spAutoFit/>
          </a:bodyPr>
          <a:lstStyle/>
          <a:p>
            <a:r>
              <a:rPr sz="850" b="1" dirty="0">
                <a:solidFill>
                  <a:srgbClr val="FF85BB"/>
                </a:solidFill>
                <a:latin typeface="jf open 粉圓 2.1"/>
              </a:rPr>
              <a:t>[3]  </a:t>
            </a:r>
            <a:r>
              <a:rPr sz="850" dirty="0">
                <a:solidFill>
                  <a:srgbClr val="021A54"/>
                </a:solidFill>
                <a:latin typeface="jf open 粉圓 2.1"/>
                <a:hlinkClick r:id="rId4"/>
              </a:rPr>
              <a:t>Wei, Y. et al. MMGCN: Multi-modal Graph Convolution Network for Personalized Recommendation of Micro-video. ACM MM 2019.</a:t>
            </a:r>
          </a:p>
        </p:txBody>
      </p:sp>
      <p:sp>
        <p:nvSpPr>
          <p:cNvPr id="10" name="Rounded Rectangle 9"/>
          <p:cNvSpPr>
            <a:spLocks/>
          </p:cNvSpPr>
          <p:nvPr/>
        </p:nvSpPr>
        <p:spPr>
          <a:xfrm>
            <a:off x="4572000" y="130759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a:spLocks/>
          </p:cNvSpPr>
          <p:nvPr/>
        </p:nvSpPr>
        <p:spPr>
          <a:xfrm>
            <a:off x="4645152" y="1386652"/>
            <a:ext cx="3941064" cy="353943"/>
          </a:xfrm>
          <a:prstGeom prst="rect">
            <a:avLst/>
          </a:prstGeom>
          <a:noFill/>
        </p:spPr>
        <p:txBody>
          <a:bodyPr wrap="square" anchor="ctr">
            <a:spAutoFit/>
          </a:bodyPr>
          <a:lstStyle/>
          <a:p>
            <a:r>
              <a:rPr sz="850" b="1">
                <a:solidFill>
                  <a:srgbClr val="FF85BB"/>
                </a:solidFill>
                <a:latin typeface="jf open 粉圓 2.1"/>
              </a:rPr>
              <a:t>[4]  </a:t>
            </a:r>
            <a:r>
              <a:rPr sz="850">
                <a:solidFill>
                  <a:srgbClr val="021A54"/>
                </a:solidFill>
                <a:latin typeface="jf open 粉圓 2.1"/>
                <a:hlinkClick r:id="rId5"/>
              </a:rPr>
              <a:t>Zhou, X. et al. Bootstrap Latent Representations for Multi-Modal Recommendation. WWW 2023.</a:t>
            </a:r>
          </a:p>
        </p:txBody>
      </p:sp>
      <p:sp>
        <p:nvSpPr>
          <p:cNvPr id="12" name="Rounded Rectangle 11"/>
          <p:cNvSpPr>
            <a:spLocks/>
          </p:cNvSpPr>
          <p:nvPr/>
        </p:nvSpPr>
        <p:spPr>
          <a:xfrm>
            <a:off x="320040" y="185623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393192" y="2000695"/>
            <a:ext cx="3941064" cy="223138"/>
          </a:xfrm>
          <a:prstGeom prst="rect">
            <a:avLst/>
          </a:prstGeom>
          <a:noFill/>
        </p:spPr>
        <p:txBody>
          <a:bodyPr wrap="square" anchor="ctr">
            <a:spAutoFit/>
          </a:bodyPr>
          <a:lstStyle/>
          <a:p>
            <a:r>
              <a:rPr sz="850" b="1">
                <a:solidFill>
                  <a:srgbClr val="FF85BB"/>
                </a:solidFill>
                <a:latin typeface="jf open 粉圓 2.1"/>
              </a:rPr>
              <a:t>[5]  </a:t>
            </a:r>
            <a:r>
              <a:rPr sz="850">
                <a:solidFill>
                  <a:srgbClr val="021A54"/>
                </a:solidFill>
                <a:latin typeface="jf open 粉圓 2.1"/>
                <a:hlinkClick r:id="rId6"/>
              </a:rPr>
              <a:t>Zhu, Q. et al. Popularity Prediction for Short Video. ICME 2020.</a:t>
            </a:r>
          </a:p>
        </p:txBody>
      </p:sp>
      <p:sp>
        <p:nvSpPr>
          <p:cNvPr id="14" name="Rounded Rectangle 13"/>
          <p:cNvSpPr>
            <a:spLocks/>
          </p:cNvSpPr>
          <p:nvPr/>
        </p:nvSpPr>
        <p:spPr>
          <a:xfrm>
            <a:off x="4572000" y="185623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a:spLocks/>
          </p:cNvSpPr>
          <p:nvPr/>
        </p:nvSpPr>
        <p:spPr>
          <a:xfrm>
            <a:off x="4645152" y="1935292"/>
            <a:ext cx="3941064" cy="353943"/>
          </a:xfrm>
          <a:prstGeom prst="rect">
            <a:avLst/>
          </a:prstGeom>
          <a:noFill/>
        </p:spPr>
        <p:txBody>
          <a:bodyPr wrap="square" anchor="ctr">
            <a:spAutoFit/>
          </a:bodyPr>
          <a:lstStyle/>
          <a:p>
            <a:r>
              <a:rPr sz="850" b="1">
                <a:solidFill>
                  <a:srgbClr val="FF85BB"/>
                </a:solidFill>
                <a:latin typeface="jf open 粉圓 2.1"/>
              </a:rPr>
              <a:t>[6]  </a:t>
            </a:r>
            <a:r>
              <a:rPr sz="850">
                <a:solidFill>
                  <a:srgbClr val="021A54"/>
                </a:solidFill>
                <a:latin typeface="jf open 粉圓 2.1"/>
                <a:hlinkClick r:id="rId7"/>
              </a:rPr>
              <a:t>Xie, Z. et al. Hierarchical Multi-modal Variational Encoder-Decoder for Video Popularity Prediction. ICME 2021.</a:t>
            </a:r>
          </a:p>
        </p:txBody>
      </p:sp>
      <p:sp>
        <p:nvSpPr>
          <p:cNvPr id="16" name="Rounded Rectangle 15"/>
          <p:cNvSpPr>
            <a:spLocks/>
          </p:cNvSpPr>
          <p:nvPr/>
        </p:nvSpPr>
        <p:spPr>
          <a:xfrm>
            <a:off x="320040" y="240487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a:spLocks/>
          </p:cNvSpPr>
          <p:nvPr/>
        </p:nvSpPr>
        <p:spPr>
          <a:xfrm>
            <a:off x="393192" y="2483932"/>
            <a:ext cx="3941064" cy="353943"/>
          </a:xfrm>
          <a:prstGeom prst="rect">
            <a:avLst/>
          </a:prstGeom>
          <a:noFill/>
        </p:spPr>
        <p:txBody>
          <a:bodyPr wrap="square" anchor="ctr">
            <a:spAutoFit/>
          </a:bodyPr>
          <a:lstStyle/>
          <a:p>
            <a:r>
              <a:rPr sz="850" b="1" dirty="0">
                <a:solidFill>
                  <a:srgbClr val="FF85BB"/>
                </a:solidFill>
                <a:latin typeface="jf open 粉圓 2.1"/>
              </a:rPr>
              <a:t>[7]  </a:t>
            </a:r>
            <a:r>
              <a:rPr sz="850" dirty="0">
                <a:solidFill>
                  <a:srgbClr val="021A54"/>
                </a:solidFill>
                <a:latin typeface="jf open 粉圓 2.1"/>
                <a:hlinkClick r:id="rId8"/>
              </a:rPr>
              <a:t>Ke, G. et al. LightGBM: A Highly Efficient Gradient Boosting Decision Tree. NeurIPS 2017.</a:t>
            </a:r>
          </a:p>
        </p:txBody>
      </p:sp>
      <p:sp>
        <p:nvSpPr>
          <p:cNvPr id="18" name="Rounded Rectangle 17"/>
          <p:cNvSpPr>
            <a:spLocks/>
          </p:cNvSpPr>
          <p:nvPr/>
        </p:nvSpPr>
        <p:spPr>
          <a:xfrm>
            <a:off x="4572000" y="2404872"/>
            <a:ext cx="4069080" cy="493776"/>
          </a:xfrm>
          <a:prstGeom prst="roundRect">
            <a:avLst/>
          </a:prstGeom>
          <a:solidFill>
            <a:srgbClr val="FFFFFF"/>
          </a:solidFill>
          <a:ln w="9525">
            <a:solidFill>
              <a:srgbClr val="FFC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a:spLocks/>
          </p:cNvSpPr>
          <p:nvPr/>
        </p:nvSpPr>
        <p:spPr>
          <a:xfrm>
            <a:off x="4645152" y="2483932"/>
            <a:ext cx="3941064" cy="353943"/>
          </a:xfrm>
          <a:prstGeom prst="rect">
            <a:avLst/>
          </a:prstGeom>
          <a:noFill/>
        </p:spPr>
        <p:txBody>
          <a:bodyPr wrap="square" anchor="ctr">
            <a:spAutoFit/>
          </a:bodyPr>
          <a:lstStyle/>
          <a:p>
            <a:r>
              <a:rPr sz="850" b="1">
                <a:solidFill>
                  <a:srgbClr val="FF85BB"/>
                </a:solidFill>
                <a:latin typeface="jf open 粉圓 2.1"/>
              </a:rPr>
              <a:t>[8]  </a:t>
            </a:r>
            <a:r>
              <a:rPr sz="850">
                <a:solidFill>
                  <a:srgbClr val="021A54"/>
                </a:solidFill>
                <a:latin typeface="jf open 粉圓 2.1"/>
                <a:hlinkClick r:id="rId9"/>
              </a:rPr>
              <a:t>Hamilton, W.L. et al. Inductive Representation Learning on Large Graphs. NeurIPS 2017.</a:t>
            </a:r>
          </a:p>
        </p:txBody>
      </p:sp>
      <p:sp>
        <p:nvSpPr>
          <p:cNvPr id="20" name="Rounded Rectangle 19"/>
          <p:cNvSpPr/>
          <p:nvPr/>
        </p:nvSpPr>
        <p:spPr>
          <a:xfrm>
            <a:off x="320040" y="2953512"/>
            <a:ext cx="8503920" cy="493776"/>
          </a:xfrm>
          <a:prstGeom prst="roundRect">
            <a:avLst/>
          </a:prstGeom>
          <a:solidFill>
            <a:srgbClr val="FFCEE3"/>
          </a:solidFill>
          <a:ln w="9525">
            <a:solidFill>
              <a:srgbClr val="FF85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3097975"/>
            <a:ext cx="8357616" cy="223138"/>
          </a:xfrm>
          <a:prstGeom prst="rect">
            <a:avLst/>
          </a:prstGeom>
          <a:noFill/>
        </p:spPr>
        <p:txBody>
          <a:bodyPr wrap="square" anchor="ctr">
            <a:spAutoFit/>
          </a:bodyPr>
          <a:lstStyle/>
          <a:p>
            <a:r>
              <a:rPr sz="850" b="1" dirty="0">
                <a:solidFill>
                  <a:srgbClr val="FF85BB"/>
                </a:solidFill>
                <a:latin typeface="jf open 粉圓 2.1"/>
              </a:rPr>
              <a:t>[9]  </a:t>
            </a:r>
            <a:r>
              <a:rPr sz="850" dirty="0">
                <a:solidFill>
                  <a:srgbClr val="021A54"/>
                </a:solidFill>
                <a:latin typeface="jf open 粉圓 2.1"/>
                <a:hlinkClick r:id="rId10"/>
              </a:rPr>
              <a:t>Shang, H. et al. Short Video Understanding — NineRec Benchmark. WWW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754</TotalTime>
  <Words>1726</Words>
  <Application>Microsoft Macintosh PowerPoint</Application>
  <PresentationFormat>如螢幕大小 (16:9)</PresentationFormat>
  <Paragraphs>398</Paragraphs>
  <Slides>12</Slides>
  <Notes>11</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12</vt:i4>
      </vt:variant>
    </vt:vector>
  </HeadingPairs>
  <TitlesOfParts>
    <vt:vector size="15" baseType="lpstr">
      <vt:lpstr>jf open 粉圓 2.1</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以圖神經網路預測短影音平台表現</dc:title>
  <dc:subject>PptxGenJS Presentation</dc:subject>
  <dc:creator>財金所 羅頤</dc:creator>
  <cp:lastModifiedBy>羅頤</cp:lastModifiedBy>
  <cp:revision>55</cp:revision>
  <cp:lastPrinted>2026-06-14T10:01:10Z</cp:lastPrinted>
  <dcterms:created xsi:type="dcterms:W3CDTF">2026-06-09T07:07:19Z</dcterms:created>
  <dcterms:modified xsi:type="dcterms:W3CDTF">2026-06-14T10:01:19Z</dcterms:modified>
</cp:coreProperties>
</file>